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6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EAF3759-C7D5-672A-2DB7-D15017FC104A}" name="David Uccelli" initials="DU" userId="7a6174f852af9b2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80" y="18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modernComment_106_0.xml><?xml version="1.0" encoding="utf-8"?>
<p188:cmLst xmlns:a="http://schemas.openxmlformats.org/drawingml/2006/main" xmlns:r="http://schemas.openxmlformats.org/officeDocument/2006/relationships" xmlns:p188="http://schemas.microsoft.com/office/powerpoint/2018/8/main">
  <p188:cm id="{38E221BE-F7E1-4C56-B358-790649874554}" authorId="{1EAF3759-C7D5-672A-2DB7-D15017FC104A}" created="2026-08-19T13:34:11.157">
    <ac:deMkLst xmlns:ac="http://schemas.microsoft.com/office/drawing/2013/main/command">
      <pc:docMk xmlns:pc="http://schemas.microsoft.com/office/powerpoint/2013/main/command"/>
      <pc:sldMk xmlns:pc="http://schemas.microsoft.com/office/powerpoint/2013/main/command" cId="0" sldId="262"/>
      <ac:spMk id="18" creationId="{00000000-0000-0000-0000-000000000000}"/>
    </ac:deMkLst>
    <p188:txBody>
      <a:bodyPr/>
      <a:lstStyle/>
      <a:p>
        <a:r>
          <a:rPr lang="en-GB"/>
          <a:t>I’ve since decided I don’t want to white label so I changed this. Is there anywhere else it is mentioned?</a:t>
        </a:r>
      </a:p>
    </p188:txBody>
  </p188:cm>
  <p188:cm id="{5140E17E-E765-43DA-A51B-79B6F554626F}" authorId="{1EAF3759-C7D5-672A-2DB7-D15017FC104A}" created="2026-08-19T13:36:47.788">
    <ac:deMkLst xmlns:ac="http://schemas.microsoft.com/office/drawing/2013/main/command">
      <pc:docMk xmlns:pc="http://schemas.microsoft.com/office/powerpoint/2013/main/command"/>
      <pc:sldMk xmlns:pc="http://schemas.microsoft.com/office/powerpoint/2013/main/command" cId="0" sldId="262"/>
      <ac:spMk id="27" creationId="{00000000-0000-0000-0000-000000000000}"/>
    </ac:deMkLst>
    <p188:txBody>
      <a:bodyPr/>
      <a:lstStyle/>
      <a:p>
        <a:r>
          <a:rPr lang="en-GB"/>
          <a:t>Removed cohorts as too difficult to manage for me. We could build the tooling to offer cohorts though.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8850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Lizzie for the time; Ben says she has been through the government AI skills hub courses and was not impressed. Two aims for the call: (1) an objective benchmark of GWTH against what the hub offers, (2) test the CIPD-curated edition idea that Ben raised on WhatsApp, so it can be built and shown the week after.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to two minutes; Lizzie has not seen the site. Lesson counts come from the live course config (66 core + 30 optional). No coding is written anywhere in the course: it is about the principles and habits of using AI well, not a particular tool. Steve liked exactly that: it does not matter whether someone uses Claude, ChatGPT or Copilot.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started about two years ago, lightly, only to learn AI myself; people asked for it, so it became a proper course. Background: 25 years as an enterprise solution architect (currently at Amazon), building real systems and explaining hard things plainly. The government hub and most vendor content was exactly what this was meant to compete with: affordable, you know the level you reach, constantly updated, and it does not go into building LLMs because only a few hundred people in the UK want that.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Lizzie to correct anything here: she has actually been through the hub courses, I have only benchmarked them from the outside. Ask what the hub's listing criteria are and whether a UK independent course could be listed. Ben's read on the call: the hub promotes the big-vendor courses, and a CIPD link would be a trusted filter for members amid 'so much out there'.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Steve's own list of their suite: a one-day Foundations of AI for HR plus literacy day (public sector demand), a generic generative AI course with an assistants-and-agents follow-on, seven specialist courses (recruitment, analytics, performance management, people management and so on), two senior leadership courses (AI strategy, leading implementation), and a responsible-use satellite in January. Their two-day intro with prompt engineering has 'dropped off a cliff'. Their two self-directed courses get very low uptake. Delivery is via about 60 associates who refresh content just before they teach. So: the self-directed foundation, kept current automatically, is the piece they do not have.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third column: the left two columns exist today, the right column is what I would build for a CIPD edition. Steve specifically named the responsible-use gap alongside the baseline gap as the two risks to his portfolio, so the 'people risk' strand is worth drawing out. Month 1 is where the 'do your own job better' promise lands; Steve agreed it applies to HR practitioners without a separate course per role.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 wrapper' Ben suggested on 12 August. Be clear what exists: the Teams page promises a dashboard, per-role optional lessons and bespoke lessons for 100+ seats; the curated-edition layer on top (branding, paths, cohort reports, hand-offs) is what I will build and show the week after this call. The whole point is that CIPD does not write or maintain the lessons: one core, updated monthly, many wrappers.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 'I thought about what Steve said and will lean into being the foundation for other AI courses, mainly as it would be great marketing.' This slide is that. The hand-off at the end of each path can point at CIPD's own courses or partner courses, and the baseline report is the thing Steve does not have today.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Ben's WhatsApp: 'She is also very well connected in skills policy circles on AI adoption so might be able to connect you to some useful contacts.' He also mentioned CIPD's upcoming meeting with the new business secretary on AI adoption research. Listen more than talk on this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agreeing the follow-up date for showing the wrapper. Do not talk pricing beyond 'beta is free' and the £29 then £7.50 model if asked.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4A4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1520" y="731520"/>
            <a:ext cx="2926080" cy="512064"/>
          </a:xfrm>
          <a:prstGeom prst="rect">
            <a:avLst/>
          </a:prstGeom>
        </p:spPr>
      </p:pic>
      <p:sp>
        <p:nvSpPr>
          <p:cNvPr id="3" name="Text 0"/>
          <p:cNvSpPr/>
          <p:nvPr/>
        </p:nvSpPr>
        <p:spPr>
          <a:xfrm>
            <a:off x="731520" y="1920240"/>
            <a:ext cx="8412480" cy="2103120"/>
          </a:xfrm>
          <a:prstGeom prst="rect">
            <a:avLst/>
          </a:prstGeom>
          <a:noFill/>
          <a:ln/>
        </p:spPr>
        <p:txBody>
          <a:bodyPr wrap="square" lIns="0" tIns="0" rIns="0" bIns="0" rtlCol="0" anchor="t"/>
          <a:lstStyle/>
          <a:p>
            <a:pPr marL="0" indent="0">
              <a:buNone/>
            </a:pPr>
            <a:r>
              <a:rPr lang="en-US" sz="3800" b="1" dirty="0">
                <a:solidFill>
                  <a:srgbClr val="FAF6EF"/>
                </a:solidFill>
                <a:latin typeface="Cambria" pitchFamily="34" charset="0"/>
                <a:ea typeface="Cambria" pitchFamily="34" charset="-122"/>
                <a:cs typeface="Cambria" pitchFamily="34" charset="-120"/>
              </a:rPr>
              <a:t>A foundation layer for the HR profession, and the people it supports</a:t>
            </a:r>
            <a:endParaRPr lang="en-US" sz="3800" dirty="0"/>
          </a:p>
        </p:txBody>
      </p:sp>
      <p:sp>
        <p:nvSpPr>
          <p:cNvPr id="4" name="Text 1"/>
          <p:cNvSpPr/>
          <p:nvPr/>
        </p:nvSpPr>
        <p:spPr>
          <a:xfrm>
            <a:off x="731520" y="4160520"/>
            <a:ext cx="9144000" cy="457200"/>
          </a:xfrm>
          <a:prstGeom prst="rect">
            <a:avLst/>
          </a:prstGeom>
          <a:noFill/>
          <a:ln/>
        </p:spPr>
        <p:txBody>
          <a:bodyPr wrap="square" lIns="0" tIns="0" rIns="0" bIns="0" rtlCol="0" anchor="ctr"/>
          <a:lstStyle/>
          <a:p>
            <a:pPr marL="0" indent="0">
              <a:buNone/>
            </a:pPr>
            <a:r>
              <a:rPr lang="en-US" sz="2000" i="1" dirty="0">
                <a:solidFill>
                  <a:srgbClr val="C08A36"/>
                </a:solidFill>
                <a:latin typeface="Calibri" pitchFamily="34" charset="0"/>
                <a:ea typeface="Calibri" pitchFamily="34" charset="-122"/>
                <a:cs typeface="Calibri" pitchFamily="34" charset="-120"/>
              </a:rPr>
              <a:t>Growth With Tech and Humans. AI suggests, humans decide.</a:t>
            </a:r>
            <a:endParaRPr lang="en-US" sz="2000" dirty="0"/>
          </a:p>
        </p:txBody>
      </p:sp>
      <p:sp>
        <p:nvSpPr>
          <p:cNvPr id="5" name="Text 2"/>
          <p:cNvSpPr/>
          <p:nvPr/>
        </p:nvSpPr>
        <p:spPr>
          <a:xfrm>
            <a:off x="731520" y="5212080"/>
            <a:ext cx="9144000" cy="731520"/>
          </a:xfrm>
          <a:prstGeom prst="rect">
            <a:avLst/>
          </a:prstGeom>
          <a:noFill/>
          <a:ln/>
        </p:spPr>
        <p:txBody>
          <a:bodyPr wrap="square" lIns="0" tIns="0" rIns="0" bIns="0" rtlCol="0" anchor="ctr"/>
          <a:lstStyle/>
          <a:p>
            <a:pPr marL="0" indent="0">
              <a:buNone/>
            </a:pPr>
            <a:r>
              <a:rPr lang="en-US" sz="1400" dirty="0">
                <a:solidFill>
                  <a:srgbClr val="ECE8D2"/>
                </a:solidFill>
                <a:latin typeface="Calibri" pitchFamily="34" charset="0"/>
                <a:ea typeface="Calibri" pitchFamily="34" charset="-122"/>
                <a:cs typeface="Calibri" pitchFamily="34" charset="-120"/>
              </a:rPr>
              <a:t>Conversation with Lizzie Crowley, CIPD skills adviser</a:t>
            </a:r>
            <a:endParaRPr lang="en-US" sz="1400" dirty="0"/>
          </a:p>
          <a:p>
            <a:pPr marL="0" indent="0">
              <a:buNone/>
            </a:pPr>
            <a:r>
              <a:rPr lang="en-US" sz="1400" dirty="0">
                <a:solidFill>
                  <a:srgbClr val="ECE8D2"/>
                </a:solidFill>
                <a:latin typeface="Calibri" pitchFamily="34" charset="0"/>
                <a:ea typeface="Calibri" pitchFamily="34" charset="-122"/>
                <a:cs typeface="Calibri" pitchFamily="34" charset="-120"/>
              </a:rPr>
              <a:t>Thursday 20 August 2026, 11:00   |   David Uccelli, founder, gwth.ai</a:t>
            </a:r>
            <a:endParaRPr lang="en-US" sz="1400" dirty="0"/>
          </a:p>
        </p:txBody>
      </p:sp>
      <p:sp>
        <p:nvSpPr>
          <p:cNvPr id="6" name="Shape 3"/>
          <p:cNvSpPr/>
          <p:nvPr/>
        </p:nvSpPr>
        <p:spPr>
          <a:xfrm>
            <a:off x="10424160" y="822960"/>
            <a:ext cx="1097280" cy="1097280"/>
          </a:xfrm>
          <a:prstGeom prst="ellipse">
            <a:avLst/>
          </a:prstGeom>
          <a:solidFill>
            <a:srgbClr val="A94C2E"/>
          </a:solidFill>
          <a:ln w="12700">
            <a:solidFill>
              <a:srgbClr val="A94C2E"/>
            </a:solidFill>
            <a:prstDash val="solid"/>
          </a:ln>
        </p:spPr>
        <p:txBody>
          <a:bodyPr/>
          <a:lstStyle/>
          <a:p>
            <a:endParaRPr lang="en-GB"/>
          </a:p>
        </p:txBody>
      </p:sp>
      <p:sp>
        <p:nvSpPr>
          <p:cNvPr id="7" name="Shape 4"/>
          <p:cNvSpPr/>
          <p:nvPr/>
        </p:nvSpPr>
        <p:spPr>
          <a:xfrm>
            <a:off x="9692640" y="4023360"/>
            <a:ext cx="1828800" cy="1828800"/>
          </a:xfrm>
          <a:prstGeom prst="ellipse">
            <a:avLst/>
          </a:prstGeom>
          <a:solidFill>
            <a:srgbClr val="C08A36"/>
          </a:solidFill>
          <a:ln w="12700">
            <a:solidFill>
              <a:srgbClr val="C08A36"/>
            </a:solidFill>
            <a:prstDash val="solid"/>
          </a:ln>
        </p:spPr>
        <p:txBody>
          <a:bodyPr/>
          <a:lstStyle/>
          <a:p>
            <a:endParaRPr lang="en-GB"/>
          </a:p>
        </p:txBody>
      </p:sp>
      <p:sp>
        <p:nvSpPr>
          <p:cNvPr id="8" name="Shape 5"/>
          <p:cNvSpPr/>
          <p:nvPr/>
        </p:nvSpPr>
        <p:spPr>
          <a:xfrm>
            <a:off x="11155680" y="2926080"/>
            <a:ext cx="548640" cy="548640"/>
          </a:xfrm>
          <a:prstGeom prst="ellipse">
            <a:avLst/>
          </a:prstGeom>
          <a:solidFill>
            <a:srgbClr val="2A4530"/>
          </a:solidFill>
          <a:ln w="12700">
            <a:solidFill>
              <a:srgbClr val="2A4530"/>
            </a:solidFill>
            <a:prstDash val="solid"/>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marL="0" indent="0" algn="r">
              <a:buNone/>
            </a:pPr>
            <a:r>
              <a:rPr lang="en-US" sz="1000" dirty="0">
                <a:solidFill>
                  <a:srgbClr val="63655F"/>
                </a:solidFill>
                <a:latin typeface="Calibri" pitchFamily="34" charset="0"/>
                <a:ea typeface="Calibri" pitchFamily="34" charset="-122"/>
                <a:cs typeface="Calibri" pitchFamily="34" charset="-120"/>
              </a:rPr>
              <a:t>2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marL="0" indent="0">
              <a:buNone/>
            </a:pPr>
            <a:r>
              <a:rPr lang="en-US" sz="3000" b="1" dirty="0">
                <a:solidFill>
                  <a:srgbClr val="201C17"/>
                </a:solidFill>
                <a:latin typeface="Cambria" pitchFamily="34" charset="0"/>
                <a:ea typeface="Cambria" pitchFamily="34" charset="-122"/>
                <a:cs typeface="Cambria" pitchFamily="34" charset="-120"/>
              </a:rPr>
              <a:t>What GWTH is</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marL="0" indent="0">
              <a:buNone/>
            </a:pPr>
            <a:r>
              <a:rPr lang="en-US" sz="1500" i="1" dirty="0">
                <a:solidFill>
                  <a:srgbClr val="63655F"/>
                </a:solidFill>
                <a:latin typeface="Calibri" pitchFamily="34" charset="0"/>
                <a:ea typeface="Calibri" pitchFamily="34" charset="-122"/>
                <a:cs typeface="Calibri" pitchFamily="34" charset="-120"/>
              </a:rPr>
              <a:t>A three-month, practical AI course for working adults in the UK. Built to be done in five hours a week, with a project in every lesson.</a:t>
            </a:r>
            <a:endParaRPr lang="en-US" sz="1500" dirty="0"/>
          </a:p>
        </p:txBody>
      </p:sp>
      <p:sp>
        <p:nvSpPr>
          <p:cNvPr id="6" name="Shape 3"/>
          <p:cNvSpPr/>
          <p:nvPr/>
        </p:nvSpPr>
        <p:spPr>
          <a:xfrm>
            <a:off x="548640" y="1691640"/>
            <a:ext cx="2606040" cy="1417320"/>
          </a:xfrm>
          <a:prstGeom prst="roundRect">
            <a:avLst>
              <a:gd name="adj" fmla="val 5161"/>
            </a:avLst>
          </a:prstGeom>
          <a:solidFill>
            <a:srgbClr val="FAF6EF"/>
          </a:solidFill>
          <a:ln w="9525">
            <a:solidFill>
              <a:srgbClr val="DDD8CB"/>
            </a:solidFill>
            <a:prstDash val="solid"/>
          </a:ln>
        </p:spPr>
        <p:txBody>
          <a:bodyPr/>
          <a:lstStyle/>
          <a:p>
            <a:endParaRPr lang="en-GB"/>
          </a:p>
        </p:txBody>
      </p:sp>
      <p:sp>
        <p:nvSpPr>
          <p:cNvPr id="7" name="Text 4"/>
          <p:cNvSpPr/>
          <p:nvPr/>
        </p:nvSpPr>
        <p:spPr>
          <a:xfrm>
            <a:off x="731520" y="1737360"/>
            <a:ext cx="1005840" cy="1280160"/>
          </a:xfrm>
          <a:prstGeom prst="rect">
            <a:avLst/>
          </a:prstGeom>
          <a:noFill/>
          <a:ln/>
        </p:spPr>
        <p:txBody>
          <a:bodyPr wrap="square" lIns="0" tIns="0" rIns="0" bIns="0" rtlCol="0" anchor="ctr"/>
          <a:lstStyle/>
          <a:p>
            <a:pPr marL="0" indent="0">
              <a:buNone/>
            </a:pPr>
            <a:r>
              <a:rPr lang="en-US" sz="4800" b="1" dirty="0">
                <a:solidFill>
                  <a:srgbClr val="A94C2E"/>
                </a:solidFill>
                <a:latin typeface="Cambria" pitchFamily="34" charset="0"/>
                <a:ea typeface="Cambria" pitchFamily="34" charset="-122"/>
                <a:cs typeface="Cambria" pitchFamily="34" charset="-120"/>
              </a:rPr>
              <a:t>3</a:t>
            </a:r>
            <a:endParaRPr lang="en-US" sz="4800" dirty="0"/>
          </a:p>
        </p:txBody>
      </p:sp>
      <p:sp>
        <p:nvSpPr>
          <p:cNvPr id="8" name="Text 5"/>
          <p:cNvSpPr/>
          <p:nvPr/>
        </p:nvSpPr>
        <p:spPr>
          <a:xfrm>
            <a:off x="1737360" y="1783080"/>
            <a:ext cx="1371600" cy="1234440"/>
          </a:xfrm>
          <a:prstGeom prst="rect">
            <a:avLst/>
          </a:prstGeom>
          <a:noFill/>
          <a:ln/>
        </p:spPr>
        <p:txBody>
          <a:bodyPr wrap="square" lIns="0" tIns="0" rIns="0" bIns="0" rtlCol="0" anchor="ctr"/>
          <a:lstStyle/>
          <a:p>
            <a:pPr marL="0" indent="0">
              <a:buNone/>
            </a:pPr>
            <a:r>
              <a:rPr lang="en-US" sz="1300" dirty="0">
                <a:solidFill>
                  <a:srgbClr val="201C17"/>
                </a:solidFill>
                <a:latin typeface="Calibri" pitchFamily="34" charset="0"/>
                <a:ea typeface="Calibri" pitchFamily="34" charset="-122"/>
                <a:cs typeface="Calibri" pitchFamily="34" charset="-120"/>
              </a:rPr>
              <a:t>months,</a:t>
            </a:r>
            <a:endParaRPr lang="en-US" sz="1300" dirty="0"/>
          </a:p>
          <a:p>
            <a:pPr marL="0" indent="0">
              <a:buNone/>
            </a:pPr>
            <a:r>
              <a:rPr lang="en-US" sz="1300" dirty="0">
                <a:solidFill>
                  <a:srgbClr val="201C17"/>
                </a:solidFill>
                <a:latin typeface="Calibri" pitchFamily="34" charset="0"/>
                <a:ea typeface="Calibri" pitchFamily="34" charset="-122"/>
                <a:cs typeface="Calibri" pitchFamily="34" charset="-120"/>
              </a:rPr>
              <a:t>5 hrs a week</a:t>
            </a:r>
            <a:endParaRPr lang="en-US" sz="1300" dirty="0"/>
          </a:p>
        </p:txBody>
      </p:sp>
      <p:sp>
        <p:nvSpPr>
          <p:cNvPr id="9" name="Shape 6"/>
          <p:cNvSpPr/>
          <p:nvPr/>
        </p:nvSpPr>
        <p:spPr>
          <a:xfrm>
            <a:off x="3364992" y="1691640"/>
            <a:ext cx="2606040" cy="1417320"/>
          </a:xfrm>
          <a:prstGeom prst="roundRect">
            <a:avLst>
              <a:gd name="adj" fmla="val 5161"/>
            </a:avLst>
          </a:prstGeom>
          <a:solidFill>
            <a:srgbClr val="FAF6EF"/>
          </a:solidFill>
          <a:ln w="9525">
            <a:solidFill>
              <a:srgbClr val="DDD8CB"/>
            </a:solidFill>
            <a:prstDash val="solid"/>
          </a:ln>
        </p:spPr>
        <p:txBody>
          <a:bodyPr/>
          <a:lstStyle/>
          <a:p>
            <a:endParaRPr lang="en-GB"/>
          </a:p>
        </p:txBody>
      </p:sp>
      <p:sp>
        <p:nvSpPr>
          <p:cNvPr id="10" name="Text 7"/>
          <p:cNvSpPr/>
          <p:nvPr/>
        </p:nvSpPr>
        <p:spPr>
          <a:xfrm>
            <a:off x="3547872" y="1737360"/>
            <a:ext cx="1005840" cy="1280160"/>
          </a:xfrm>
          <a:prstGeom prst="rect">
            <a:avLst/>
          </a:prstGeom>
          <a:noFill/>
          <a:ln/>
        </p:spPr>
        <p:txBody>
          <a:bodyPr wrap="square" lIns="0" tIns="0" rIns="0" bIns="0" rtlCol="0" anchor="ctr"/>
          <a:lstStyle/>
          <a:p>
            <a:pPr marL="0" indent="0">
              <a:buNone/>
            </a:pPr>
            <a:r>
              <a:rPr lang="en-US" sz="4800" b="1" dirty="0">
                <a:solidFill>
                  <a:srgbClr val="A94C2E"/>
                </a:solidFill>
                <a:latin typeface="Cambria" pitchFamily="34" charset="0"/>
                <a:ea typeface="Cambria" pitchFamily="34" charset="-122"/>
                <a:cs typeface="Cambria" pitchFamily="34" charset="-120"/>
              </a:rPr>
              <a:t>96</a:t>
            </a:r>
            <a:endParaRPr lang="en-US" sz="4800" dirty="0"/>
          </a:p>
        </p:txBody>
      </p:sp>
      <p:sp>
        <p:nvSpPr>
          <p:cNvPr id="11" name="Text 8"/>
          <p:cNvSpPr/>
          <p:nvPr/>
        </p:nvSpPr>
        <p:spPr>
          <a:xfrm>
            <a:off x="4553712" y="1783080"/>
            <a:ext cx="1371600" cy="1234440"/>
          </a:xfrm>
          <a:prstGeom prst="rect">
            <a:avLst/>
          </a:prstGeom>
          <a:noFill/>
          <a:ln/>
        </p:spPr>
        <p:txBody>
          <a:bodyPr wrap="square" lIns="0" tIns="0" rIns="0" bIns="0" rtlCol="0" anchor="ctr"/>
          <a:lstStyle/>
          <a:p>
            <a:pPr marL="0" indent="0">
              <a:buNone/>
            </a:pPr>
            <a:r>
              <a:rPr lang="en-US" sz="1300" dirty="0">
                <a:solidFill>
                  <a:srgbClr val="201C17"/>
                </a:solidFill>
                <a:latin typeface="Calibri" pitchFamily="34" charset="0"/>
                <a:ea typeface="Calibri" pitchFamily="34" charset="-122"/>
                <a:cs typeface="Calibri" pitchFamily="34" charset="-120"/>
              </a:rPr>
              <a:t>lessons: 66 core,</a:t>
            </a:r>
            <a:endParaRPr lang="en-US" sz="1300" dirty="0"/>
          </a:p>
          <a:p>
            <a:pPr marL="0" indent="0">
              <a:buNone/>
            </a:pPr>
            <a:r>
              <a:rPr lang="en-US" sz="1300" dirty="0">
                <a:solidFill>
                  <a:srgbClr val="201C17"/>
                </a:solidFill>
                <a:latin typeface="Calibri" pitchFamily="34" charset="0"/>
                <a:ea typeface="Calibri" pitchFamily="34" charset="-122"/>
                <a:cs typeface="Calibri" pitchFamily="34" charset="-120"/>
              </a:rPr>
              <a:t>30 optional by role</a:t>
            </a:r>
            <a:endParaRPr lang="en-US" sz="1300" dirty="0"/>
          </a:p>
        </p:txBody>
      </p:sp>
      <p:sp>
        <p:nvSpPr>
          <p:cNvPr id="12" name="Shape 9"/>
          <p:cNvSpPr/>
          <p:nvPr/>
        </p:nvSpPr>
        <p:spPr>
          <a:xfrm>
            <a:off x="6181344" y="1691640"/>
            <a:ext cx="2606040" cy="1417320"/>
          </a:xfrm>
          <a:prstGeom prst="roundRect">
            <a:avLst>
              <a:gd name="adj" fmla="val 5161"/>
            </a:avLst>
          </a:prstGeom>
          <a:solidFill>
            <a:srgbClr val="FAF6EF"/>
          </a:solidFill>
          <a:ln w="9525">
            <a:solidFill>
              <a:srgbClr val="DDD8CB"/>
            </a:solidFill>
            <a:prstDash val="solid"/>
          </a:ln>
        </p:spPr>
        <p:txBody>
          <a:bodyPr/>
          <a:lstStyle/>
          <a:p>
            <a:endParaRPr lang="en-GB"/>
          </a:p>
        </p:txBody>
      </p:sp>
      <p:sp>
        <p:nvSpPr>
          <p:cNvPr id="13" name="Text 10"/>
          <p:cNvSpPr/>
          <p:nvPr/>
        </p:nvSpPr>
        <p:spPr>
          <a:xfrm>
            <a:off x="6364224" y="1737360"/>
            <a:ext cx="1005840" cy="1280160"/>
          </a:xfrm>
          <a:prstGeom prst="rect">
            <a:avLst/>
          </a:prstGeom>
          <a:noFill/>
          <a:ln/>
        </p:spPr>
        <p:txBody>
          <a:bodyPr wrap="square" lIns="0" tIns="0" rIns="0" bIns="0" rtlCol="0" anchor="ctr"/>
          <a:lstStyle/>
          <a:p>
            <a:pPr marL="0" indent="0">
              <a:buNone/>
            </a:pPr>
            <a:r>
              <a:rPr lang="en-US" sz="4800" b="1" dirty="0">
                <a:solidFill>
                  <a:srgbClr val="A94C2E"/>
                </a:solidFill>
                <a:latin typeface="Cambria" pitchFamily="34" charset="0"/>
                <a:ea typeface="Cambria" pitchFamily="34" charset="-122"/>
                <a:cs typeface="Cambria" pitchFamily="34" charset="-120"/>
              </a:rPr>
              <a:t>1</a:t>
            </a:r>
            <a:endParaRPr lang="en-US" sz="4800" dirty="0"/>
          </a:p>
        </p:txBody>
      </p:sp>
      <p:sp>
        <p:nvSpPr>
          <p:cNvPr id="14" name="Text 11"/>
          <p:cNvSpPr/>
          <p:nvPr/>
        </p:nvSpPr>
        <p:spPr>
          <a:xfrm>
            <a:off x="7370064" y="1783080"/>
            <a:ext cx="1371600" cy="1234440"/>
          </a:xfrm>
          <a:prstGeom prst="rect">
            <a:avLst/>
          </a:prstGeom>
          <a:noFill/>
          <a:ln/>
        </p:spPr>
        <p:txBody>
          <a:bodyPr wrap="square" lIns="0" tIns="0" rIns="0" bIns="0" rtlCol="0" anchor="ctr"/>
          <a:lstStyle/>
          <a:p>
            <a:pPr marL="0" indent="0">
              <a:buNone/>
            </a:pPr>
            <a:r>
              <a:rPr lang="en-US" sz="1300" dirty="0">
                <a:solidFill>
                  <a:srgbClr val="201C17"/>
                </a:solidFill>
                <a:latin typeface="Calibri" pitchFamily="34" charset="0"/>
                <a:ea typeface="Calibri" pitchFamily="34" charset="-122"/>
                <a:cs typeface="Calibri" pitchFamily="34" charset="-120"/>
              </a:rPr>
              <a:t>practical project</a:t>
            </a:r>
            <a:endParaRPr lang="en-US" sz="1300" dirty="0"/>
          </a:p>
          <a:p>
            <a:pPr marL="0" indent="0">
              <a:buNone/>
            </a:pPr>
            <a:r>
              <a:rPr lang="en-US" sz="1300" dirty="0">
                <a:solidFill>
                  <a:srgbClr val="201C17"/>
                </a:solidFill>
                <a:latin typeface="Calibri" pitchFamily="34" charset="0"/>
                <a:ea typeface="Calibri" pitchFamily="34" charset="-122"/>
                <a:cs typeface="Calibri" pitchFamily="34" charset="-120"/>
              </a:rPr>
              <a:t>in every lesson</a:t>
            </a:r>
            <a:endParaRPr lang="en-US" sz="1300" dirty="0"/>
          </a:p>
        </p:txBody>
      </p:sp>
      <p:sp>
        <p:nvSpPr>
          <p:cNvPr id="15" name="Shape 12"/>
          <p:cNvSpPr/>
          <p:nvPr/>
        </p:nvSpPr>
        <p:spPr>
          <a:xfrm>
            <a:off x="8997696" y="1691640"/>
            <a:ext cx="2606040" cy="1417320"/>
          </a:xfrm>
          <a:prstGeom prst="roundRect">
            <a:avLst>
              <a:gd name="adj" fmla="val 5161"/>
            </a:avLst>
          </a:prstGeom>
          <a:solidFill>
            <a:srgbClr val="FAF6EF"/>
          </a:solidFill>
          <a:ln w="9525">
            <a:solidFill>
              <a:srgbClr val="DDD8CB"/>
            </a:solidFill>
            <a:prstDash val="solid"/>
          </a:ln>
        </p:spPr>
        <p:txBody>
          <a:bodyPr/>
          <a:lstStyle/>
          <a:p>
            <a:endParaRPr lang="en-GB"/>
          </a:p>
        </p:txBody>
      </p:sp>
      <p:sp>
        <p:nvSpPr>
          <p:cNvPr id="16" name="Text 13"/>
          <p:cNvSpPr/>
          <p:nvPr/>
        </p:nvSpPr>
        <p:spPr>
          <a:xfrm>
            <a:off x="9180576" y="1737360"/>
            <a:ext cx="1005840" cy="1280160"/>
          </a:xfrm>
          <a:prstGeom prst="rect">
            <a:avLst/>
          </a:prstGeom>
          <a:noFill/>
          <a:ln/>
        </p:spPr>
        <p:txBody>
          <a:bodyPr wrap="square" lIns="0" tIns="0" rIns="0" bIns="0" rtlCol="0" anchor="ctr"/>
          <a:lstStyle/>
          <a:p>
            <a:pPr marL="0" indent="0">
              <a:buNone/>
            </a:pPr>
            <a:r>
              <a:rPr lang="en-US" sz="4800" b="1" dirty="0">
                <a:solidFill>
                  <a:srgbClr val="A94C2E"/>
                </a:solidFill>
                <a:latin typeface="Cambria" pitchFamily="34" charset="0"/>
                <a:ea typeface="Cambria" pitchFamily="34" charset="-122"/>
                <a:cs typeface="Cambria" pitchFamily="34" charset="-120"/>
              </a:rPr>
              <a:t>3</a:t>
            </a:r>
            <a:endParaRPr lang="en-US" sz="4800" dirty="0"/>
          </a:p>
        </p:txBody>
      </p:sp>
      <p:sp>
        <p:nvSpPr>
          <p:cNvPr id="17" name="Text 14"/>
          <p:cNvSpPr/>
          <p:nvPr/>
        </p:nvSpPr>
        <p:spPr>
          <a:xfrm>
            <a:off x="10186416" y="1783080"/>
            <a:ext cx="1371600" cy="1234440"/>
          </a:xfrm>
          <a:prstGeom prst="rect">
            <a:avLst/>
          </a:prstGeom>
          <a:noFill/>
          <a:ln/>
        </p:spPr>
        <p:txBody>
          <a:bodyPr wrap="square" lIns="0" tIns="0" rIns="0" bIns="0" rtlCol="0" anchor="ctr"/>
          <a:lstStyle/>
          <a:p>
            <a:pPr marL="0" indent="0">
              <a:buNone/>
            </a:pPr>
            <a:r>
              <a:rPr lang="en-US" sz="1300" dirty="0">
                <a:solidFill>
                  <a:srgbClr val="201C17"/>
                </a:solidFill>
                <a:latin typeface="Calibri" pitchFamily="34" charset="0"/>
                <a:ea typeface="Calibri" pitchFamily="34" charset="-122"/>
                <a:cs typeface="Calibri" pitchFamily="34" charset="-120"/>
              </a:rPr>
              <a:t>capstone apps</a:t>
            </a:r>
            <a:endParaRPr lang="en-US" sz="1300" dirty="0"/>
          </a:p>
          <a:p>
            <a:pPr marL="0" indent="0">
              <a:buNone/>
            </a:pPr>
            <a:r>
              <a:rPr lang="en-US" sz="1300" dirty="0">
                <a:solidFill>
                  <a:srgbClr val="201C17"/>
                </a:solidFill>
                <a:latin typeface="Calibri" pitchFamily="34" charset="0"/>
                <a:ea typeface="Calibri" pitchFamily="34" charset="-122"/>
                <a:cs typeface="Calibri" pitchFamily="34" charset="-120"/>
              </a:rPr>
              <a:t>you keep</a:t>
            </a:r>
            <a:endParaRPr lang="en-US" sz="1300" dirty="0"/>
          </a:p>
        </p:txBody>
      </p:sp>
      <p:sp>
        <p:nvSpPr>
          <p:cNvPr id="18" name="Shape 15"/>
          <p:cNvSpPr/>
          <p:nvPr/>
        </p:nvSpPr>
        <p:spPr>
          <a:xfrm>
            <a:off x="548640" y="3383280"/>
            <a:ext cx="3566160" cy="1965960"/>
          </a:xfrm>
          <a:prstGeom prst="roundRect">
            <a:avLst>
              <a:gd name="adj" fmla="val 3721"/>
            </a:avLst>
          </a:prstGeom>
          <a:solidFill>
            <a:srgbClr val="FFFFFF"/>
          </a:solidFill>
          <a:ln w="9525">
            <a:solidFill>
              <a:srgbClr val="DDD8CB"/>
            </a:solidFill>
            <a:prstDash val="solid"/>
          </a:ln>
        </p:spPr>
        <p:txBody>
          <a:bodyPr/>
          <a:lstStyle/>
          <a:p>
            <a:endParaRPr lang="en-GB"/>
          </a:p>
        </p:txBody>
      </p:sp>
      <p:sp>
        <p:nvSpPr>
          <p:cNvPr id="19" name="Shape 16"/>
          <p:cNvSpPr/>
          <p:nvPr/>
        </p:nvSpPr>
        <p:spPr>
          <a:xfrm>
            <a:off x="777240" y="3611880"/>
            <a:ext cx="822960" cy="292608"/>
          </a:xfrm>
          <a:prstGeom prst="rect">
            <a:avLst/>
          </a:prstGeom>
          <a:solidFill>
            <a:srgbClr val="2C4A47"/>
          </a:solidFill>
          <a:ln w="12700">
            <a:solidFill>
              <a:srgbClr val="2C4A47"/>
            </a:solidFill>
            <a:prstDash val="solid"/>
          </a:ln>
        </p:spPr>
        <p:txBody>
          <a:bodyPr/>
          <a:lstStyle/>
          <a:p>
            <a:endParaRPr lang="en-GB"/>
          </a:p>
        </p:txBody>
      </p:sp>
      <p:sp>
        <p:nvSpPr>
          <p:cNvPr id="20" name="Text 17"/>
          <p:cNvSpPr/>
          <p:nvPr/>
        </p:nvSpPr>
        <p:spPr>
          <a:xfrm>
            <a:off x="777240" y="3611880"/>
            <a:ext cx="8229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Month 1</a:t>
            </a:r>
            <a:endParaRPr lang="en-US" sz="1100" dirty="0"/>
          </a:p>
        </p:txBody>
      </p:sp>
      <p:sp>
        <p:nvSpPr>
          <p:cNvPr id="21" name="Text 18"/>
          <p:cNvSpPr/>
          <p:nvPr/>
        </p:nvSpPr>
        <p:spPr>
          <a:xfrm>
            <a:off x="1737360" y="3547872"/>
            <a:ext cx="2286000" cy="411480"/>
          </a:xfrm>
          <a:prstGeom prst="rect">
            <a:avLst/>
          </a:prstGeom>
          <a:noFill/>
          <a:ln/>
        </p:spPr>
        <p:txBody>
          <a:bodyPr wrap="square" lIns="0" tIns="0" rIns="0" bIns="0" rtlCol="0" anchor="ctr"/>
          <a:lstStyle/>
          <a:p>
            <a:pPr marL="0" indent="0">
              <a:buNone/>
            </a:pPr>
            <a:r>
              <a:rPr lang="en-US" sz="1400" b="1" dirty="0">
                <a:solidFill>
                  <a:srgbClr val="201C17"/>
                </a:solidFill>
                <a:latin typeface="Cambria" pitchFamily="34" charset="0"/>
                <a:ea typeface="Cambria" pitchFamily="34" charset="-122"/>
                <a:cs typeface="Cambria" pitchFamily="34" charset="-120"/>
              </a:rPr>
              <a:t>From zero to building</a:t>
            </a:r>
            <a:endParaRPr lang="en-US" sz="1400" dirty="0"/>
          </a:p>
        </p:txBody>
      </p:sp>
      <p:sp>
        <p:nvSpPr>
          <p:cNvPr id="22" name="Text 19"/>
          <p:cNvSpPr/>
          <p:nvPr/>
        </p:nvSpPr>
        <p:spPr>
          <a:xfrm>
            <a:off x="777240" y="4023360"/>
            <a:ext cx="3154680" cy="1280160"/>
          </a:xfrm>
          <a:prstGeom prst="rect">
            <a:avLst/>
          </a:prstGeom>
          <a:noFill/>
          <a:ln/>
        </p:spPr>
        <p:txBody>
          <a:bodyPr wrap="square" lIns="0" tIns="0" rIns="0" bIns="0" rtlCol="0" anchor="t"/>
          <a:lstStyle/>
          <a:p>
            <a:pPr marL="0" indent="0">
              <a:buNone/>
            </a:pPr>
            <a:r>
              <a:rPr lang="en-US" sz="1200" dirty="0">
                <a:solidFill>
                  <a:srgbClr val="201C17"/>
                </a:solidFill>
                <a:latin typeface="Calibri" pitchFamily="34" charset="0"/>
                <a:ea typeface="Calibri" pitchFamily="34" charset="-122"/>
                <a:cs typeface="Calibri" pitchFamily="34" charset="-120"/>
              </a:rPr>
              <a:t>AI for your own life and job. The six things AI is good at: research, content, thinking, building, data, automation. Capstone: Family AI Bot.</a:t>
            </a:r>
            <a:endParaRPr lang="en-US" sz="1200" dirty="0"/>
          </a:p>
        </p:txBody>
      </p:sp>
      <p:sp>
        <p:nvSpPr>
          <p:cNvPr id="23" name="Shape 20"/>
          <p:cNvSpPr/>
          <p:nvPr/>
        </p:nvSpPr>
        <p:spPr>
          <a:xfrm>
            <a:off x="4297680" y="3383280"/>
            <a:ext cx="3566160" cy="1965960"/>
          </a:xfrm>
          <a:prstGeom prst="roundRect">
            <a:avLst>
              <a:gd name="adj" fmla="val 3721"/>
            </a:avLst>
          </a:prstGeom>
          <a:solidFill>
            <a:srgbClr val="FFFFFF"/>
          </a:solidFill>
          <a:ln w="9525">
            <a:solidFill>
              <a:srgbClr val="DDD8CB"/>
            </a:solidFill>
            <a:prstDash val="solid"/>
          </a:ln>
        </p:spPr>
        <p:txBody>
          <a:bodyPr/>
          <a:lstStyle/>
          <a:p>
            <a:endParaRPr lang="en-GB"/>
          </a:p>
        </p:txBody>
      </p:sp>
      <p:sp>
        <p:nvSpPr>
          <p:cNvPr id="24" name="Shape 21"/>
          <p:cNvSpPr/>
          <p:nvPr/>
        </p:nvSpPr>
        <p:spPr>
          <a:xfrm>
            <a:off x="4526280" y="3611880"/>
            <a:ext cx="822960" cy="292608"/>
          </a:xfrm>
          <a:prstGeom prst="rect">
            <a:avLst/>
          </a:prstGeom>
          <a:solidFill>
            <a:srgbClr val="2A4530"/>
          </a:solidFill>
          <a:ln w="12700">
            <a:solidFill>
              <a:srgbClr val="2A4530"/>
            </a:solidFill>
            <a:prstDash val="solid"/>
          </a:ln>
        </p:spPr>
        <p:txBody>
          <a:bodyPr/>
          <a:lstStyle/>
          <a:p>
            <a:endParaRPr lang="en-GB"/>
          </a:p>
        </p:txBody>
      </p:sp>
      <p:sp>
        <p:nvSpPr>
          <p:cNvPr id="25" name="Text 22"/>
          <p:cNvSpPr/>
          <p:nvPr/>
        </p:nvSpPr>
        <p:spPr>
          <a:xfrm>
            <a:off x="4526280" y="3611880"/>
            <a:ext cx="8229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Month 2</a:t>
            </a:r>
            <a:endParaRPr lang="en-US" sz="1100" dirty="0"/>
          </a:p>
        </p:txBody>
      </p:sp>
      <p:sp>
        <p:nvSpPr>
          <p:cNvPr id="26" name="Text 23"/>
          <p:cNvSpPr/>
          <p:nvPr/>
        </p:nvSpPr>
        <p:spPr>
          <a:xfrm>
            <a:off x="5486400" y="3547872"/>
            <a:ext cx="2286000" cy="411480"/>
          </a:xfrm>
          <a:prstGeom prst="rect">
            <a:avLst/>
          </a:prstGeom>
          <a:noFill/>
          <a:ln/>
        </p:spPr>
        <p:txBody>
          <a:bodyPr wrap="square" lIns="0" tIns="0" rIns="0" bIns="0" rtlCol="0" anchor="ctr"/>
          <a:lstStyle/>
          <a:p>
            <a:pPr marL="0" indent="0">
              <a:buNone/>
            </a:pPr>
            <a:r>
              <a:rPr lang="en-US" sz="1400" b="1" dirty="0">
                <a:solidFill>
                  <a:srgbClr val="201C17"/>
                </a:solidFill>
                <a:latin typeface="Cambria" pitchFamily="34" charset="0"/>
                <a:ea typeface="Cambria" pitchFamily="34" charset="-122"/>
                <a:cs typeface="Cambria" pitchFamily="34" charset="-120"/>
              </a:rPr>
              <a:t>Building real apps</a:t>
            </a:r>
            <a:endParaRPr lang="en-US" sz="1400" dirty="0"/>
          </a:p>
        </p:txBody>
      </p:sp>
      <p:sp>
        <p:nvSpPr>
          <p:cNvPr id="27" name="Text 24"/>
          <p:cNvSpPr/>
          <p:nvPr/>
        </p:nvSpPr>
        <p:spPr>
          <a:xfrm>
            <a:off x="4526280" y="4023360"/>
            <a:ext cx="3154680" cy="1280160"/>
          </a:xfrm>
          <a:prstGeom prst="rect">
            <a:avLst/>
          </a:prstGeom>
          <a:noFill/>
          <a:ln/>
        </p:spPr>
        <p:txBody>
          <a:bodyPr wrap="square" lIns="0" tIns="0" rIns="0" bIns="0" rtlCol="0" anchor="t"/>
          <a:lstStyle/>
          <a:p>
            <a:pPr marL="0" indent="0">
              <a:buNone/>
            </a:pPr>
            <a:r>
              <a:rPr lang="en-US" sz="1200" dirty="0">
                <a:solidFill>
                  <a:srgbClr val="201C17"/>
                </a:solidFill>
                <a:latin typeface="Calibri" pitchFamily="34" charset="0"/>
                <a:ea typeface="Calibri" pitchFamily="34" charset="-122"/>
                <a:cs typeface="Calibri" pitchFamily="34" charset="-120"/>
              </a:rPr>
              <a:t>Work and small-business use: apps, workflows, consulting. Optional lessons by role (HR, finance, building). Capstone: AI customer-support chatbot.</a:t>
            </a:r>
            <a:endParaRPr lang="en-US" sz="1200" dirty="0"/>
          </a:p>
        </p:txBody>
      </p:sp>
      <p:sp>
        <p:nvSpPr>
          <p:cNvPr id="28" name="Shape 25"/>
          <p:cNvSpPr/>
          <p:nvPr/>
        </p:nvSpPr>
        <p:spPr>
          <a:xfrm>
            <a:off x="8046720" y="3383280"/>
            <a:ext cx="3566160" cy="1965960"/>
          </a:xfrm>
          <a:prstGeom prst="roundRect">
            <a:avLst>
              <a:gd name="adj" fmla="val 3721"/>
            </a:avLst>
          </a:prstGeom>
          <a:solidFill>
            <a:srgbClr val="FFFFFF"/>
          </a:solidFill>
          <a:ln w="9525">
            <a:solidFill>
              <a:srgbClr val="DDD8CB"/>
            </a:solidFill>
            <a:prstDash val="solid"/>
          </a:ln>
        </p:spPr>
        <p:txBody>
          <a:bodyPr/>
          <a:lstStyle/>
          <a:p>
            <a:endParaRPr lang="en-GB"/>
          </a:p>
        </p:txBody>
      </p:sp>
      <p:sp>
        <p:nvSpPr>
          <p:cNvPr id="29" name="Shape 26"/>
          <p:cNvSpPr/>
          <p:nvPr/>
        </p:nvSpPr>
        <p:spPr>
          <a:xfrm>
            <a:off x="8275320" y="3611880"/>
            <a:ext cx="822960" cy="292608"/>
          </a:xfrm>
          <a:prstGeom prst="rect">
            <a:avLst/>
          </a:prstGeom>
          <a:solidFill>
            <a:srgbClr val="A94C2E"/>
          </a:solidFill>
          <a:ln w="12700">
            <a:solidFill>
              <a:srgbClr val="A94C2E"/>
            </a:solidFill>
            <a:prstDash val="solid"/>
          </a:ln>
        </p:spPr>
        <p:txBody>
          <a:bodyPr/>
          <a:lstStyle/>
          <a:p>
            <a:endParaRPr lang="en-GB"/>
          </a:p>
        </p:txBody>
      </p:sp>
      <p:sp>
        <p:nvSpPr>
          <p:cNvPr id="30" name="Text 27"/>
          <p:cNvSpPr/>
          <p:nvPr/>
        </p:nvSpPr>
        <p:spPr>
          <a:xfrm>
            <a:off x="8275320" y="3611880"/>
            <a:ext cx="8229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Month 3</a:t>
            </a:r>
            <a:endParaRPr lang="en-US" sz="1100" dirty="0"/>
          </a:p>
        </p:txBody>
      </p:sp>
      <p:sp>
        <p:nvSpPr>
          <p:cNvPr id="31" name="Text 28"/>
          <p:cNvSpPr/>
          <p:nvPr/>
        </p:nvSpPr>
        <p:spPr>
          <a:xfrm>
            <a:off x="9235440" y="3547872"/>
            <a:ext cx="2286000" cy="411480"/>
          </a:xfrm>
          <a:prstGeom prst="rect">
            <a:avLst/>
          </a:prstGeom>
          <a:noFill/>
          <a:ln/>
        </p:spPr>
        <p:txBody>
          <a:bodyPr wrap="square" lIns="0" tIns="0" rIns="0" bIns="0" rtlCol="0" anchor="ctr"/>
          <a:lstStyle/>
          <a:p>
            <a:pPr marL="0" indent="0">
              <a:buNone/>
            </a:pPr>
            <a:r>
              <a:rPr lang="en-US" sz="1400" b="1" dirty="0">
                <a:solidFill>
                  <a:srgbClr val="201C17"/>
                </a:solidFill>
                <a:latin typeface="Cambria" pitchFamily="34" charset="0"/>
                <a:ea typeface="Cambria" pitchFamily="34" charset="-122"/>
                <a:cs typeface="Cambria" pitchFamily="34" charset="-120"/>
              </a:rPr>
              <a:t>Enterprise AI and agents</a:t>
            </a:r>
            <a:endParaRPr lang="en-US" sz="1400" dirty="0"/>
          </a:p>
        </p:txBody>
      </p:sp>
      <p:sp>
        <p:nvSpPr>
          <p:cNvPr id="32" name="Text 29"/>
          <p:cNvSpPr/>
          <p:nvPr/>
        </p:nvSpPr>
        <p:spPr>
          <a:xfrm>
            <a:off x="8275320" y="4023360"/>
            <a:ext cx="3154680" cy="1280160"/>
          </a:xfrm>
          <a:prstGeom prst="rect">
            <a:avLst/>
          </a:prstGeom>
          <a:noFill/>
          <a:ln/>
        </p:spPr>
        <p:txBody>
          <a:bodyPr wrap="square" lIns="0" tIns="0" rIns="0" bIns="0" rtlCol="0" anchor="t"/>
          <a:lstStyle/>
          <a:p>
            <a:pPr marL="0" indent="0">
              <a:buNone/>
            </a:pPr>
            <a:r>
              <a:rPr lang="en-US" sz="1200" dirty="0">
                <a:solidFill>
                  <a:srgbClr val="201C17"/>
                </a:solidFill>
                <a:latin typeface="Calibri" pitchFamily="34" charset="0"/>
                <a:ea typeface="Calibri" pitchFamily="34" charset="-122"/>
                <a:cs typeface="Calibri" pitchFamily="34" charset="-120"/>
              </a:rPr>
              <a:t>Transformation, governance, change management, team structures, managing agents. Capstone: AI readiness assessment tool for a whole organisation.</a:t>
            </a:r>
            <a:endParaRPr lang="en-US" sz="1200" dirty="0"/>
          </a:p>
        </p:txBody>
      </p:sp>
      <p:sp>
        <p:nvSpPr>
          <p:cNvPr id="33" name="Text 30"/>
          <p:cNvSpPr/>
          <p:nvPr/>
        </p:nvSpPr>
        <p:spPr>
          <a:xfrm>
            <a:off x="548640" y="5486400"/>
            <a:ext cx="11091672" cy="640080"/>
          </a:xfrm>
          <a:prstGeom prst="rect">
            <a:avLst/>
          </a:prstGeom>
          <a:noFill/>
          <a:ln/>
        </p:spPr>
        <p:txBody>
          <a:bodyPr wrap="square" lIns="0" tIns="0" rIns="0" bIns="0" rtlCol="0" anchor="t"/>
          <a:lstStyle/>
          <a:p>
            <a:pPr marL="0" indent="0">
              <a:buNone/>
            </a:pPr>
            <a:r>
              <a:rPr lang="en-US" sz="1250" b="1" dirty="0">
                <a:solidFill>
                  <a:srgbClr val="63655F"/>
                </a:solidFill>
                <a:latin typeface="Calibri" pitchFamily="34" charset="0"/>
                <a:ea typeface="Calibri" pitchFamily="34" charset="-122"/>
                <a:cs typeface="Calibri" pitchFamily="34" charset="-120"/>
              </a:rPr>
              <a:t>Also: </a:t>
            </a:r>
            <a:r>
              <a:rPr lang="en-US" sz="1250" dirty="0">
                <a:solidFill>
                  <a:srgbClr val="63655F"/>
                </a:solidFill>
                <a:latin typeface="Calibri" pitchFamily="34" charset="0"/>
                <a:ea typeface="Calibri" pitchFamily="34" charset="-122"/>
                <a:cs typeface="Calibri" pitchFamily="34" charset="-120"/>
              </a:rPr>
              <a:t>Model Arena labs (live side-by-side model comparisons, free). A verifiable record of what you built, which decays if you stop keeping current. UK examples throughout. No coding required. £29 a month for three months, then £7.50 a month to stay current. Beta is free.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marL="0" indent="0" algn="r">
              <a:buNone/>
            </a:pPr>
            <a:r>
              <a:rPr lang="en-US" sz="1000" dirty="0">
                <a:solidFill>
                  <a:srgbClr val="63655F"/>
                </a:solidFill>
                <a:latin typeface="Calibri" pitchFamily="34" charset="0"/>
                <a:ea typeface="Calibri" pitchFamily="34" charset="-122"/>
                <a:cs typeface="Calibri" pitchFamily="34" charset="-120"/>
              </a:rPr>
              <a:t>3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marL="0" indent="0">
              <a:buNone/>
            </a:pPr>
            <a:r>
              <a:rPr lang="en-US" sz="3000" b="1" dirty="0">
                <a:solidFill>
                  <a:srgbClr val="201C17"/>
                </a:solidFill>
                <a:latin typeface="Cambria" pitchFamily="34" charset="0"/>
                <a:ea typeface="Cambria" pitchFamily="34" charset="-122"/>
                <a:cs typeface="Cambria" pitchFamily="34" charset="-120"/>
              </a:rPr>
              <a:t>Why I set it up</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marL="0" indent="0">
              <a:buNone/>
            </a:pPr>
            <a:r>
              <a:rPr lang="en-US" sz="1500" i="1" dirty="0">
                <a:solidFill>
                  <a:srgbClr val="63655F"/>
                </a:solidFill>
                <a:latin typeface="Calibri" pitchFamily="34" charset="0"/>
                <a:ea typeface="Calibri" pitchFamily="34" charset="-122"/>
                <a:cs typeface="Calibri" pitchFamily="34" charset="-120"/>
              </a:rPr>
              <a:t>It started two years ago as the course I wanted for myself. People kept asking for it, so it became a real one.</a:t>
            </a:r>
            <a:endParaRPr lang="en-US" sz="1500" dirty="0"/>
          </a:p>
        </p:txBody>
      </p:sp>
      <p:sp>
        <p:nvSpPr>
          <p:cNvPr id="6" name="Shape 3"/>
          <p:cNvSpPr/>
          <p:nvPr/>
        </p:nvSpPr>
        <p:spPr>
          <a:xfrm>
            <a:off x="548640" y="1691640"/>
            <a:ext cx="5669280" cy="4389120"/>
          </a:xfrm>
          <a:prstGeom prst="roundRect">
            <a:avLst>
              <a:gd name="adj" fmla="val 1667"/>
            </a:avLst>
          </a:prstGeom>
          <a:solidFill>
            <a:srgbClr val="FAF6EF"/>
          </a:solidFill>
          <a:ln w="9525">
            <a:solidFill>
              <a:srgbClr val="DDD8CB"/>
            </a:solidFill>
            <a:prstDash val="solid"/>
          </a:ln>
        </p:spPr>
        <p:txBody>
          <a:bodyPr/>
          <a:lstStyle/>
          <a:p>
            <a:endParaRPr lang="en-GB"/>
          </a:p>
        </p:txBody>
      </p:sp>
      <p:sp>
        <p:nvSpPr>
          <p:cNvPr id="7" name="Text 4"/>
          <p:cNvSpPr/>
          <p:nvPr/>
        </p:nvSpPr>
        <p:spPr>
          <a:xfrm>
            <a:off x="822960" y="1828800"/>
            <a:ext cx="5212080" cy="411480"/>
          </a:xfrm>
          <a:prstGeom prst="rect">
            <a:avLst/>
          </a:prstGeom>
          <a:noFill/>
          <a:ln/>
        </p:spPr>
        <p:txBody>
          <a:bodyPr wrap="square" lIns="0" tIns="0" rIns="0" bIns="0" rtlCol="0" anchor="ctr"/>
          <a:lstStyle/>
          <a:p>
            <a:pPr marL="0" indent="0">
              <a:buNone/>
            </a:pPr>
            <a:r>
              <a:rPr lang="en-US" sz="1800" b="1" dirty="0">
                <a:solidFill>
                  <a:srgbClr val="2C4A47"/>
                </a:solidFill>
                <a:latin typeface="Cambria" pitchFamily="34" charset="0"/>
                <a:ea typeface="Cambria" pitchFamily="34" charset="-122"/>
                <a:cs typeface="Cambria" pitchFamily="34" charset="-120"/>
              </a:rPr>
              <a:t>The gap I kept running into</a:t>
            </a:r>
            <a:endParaRPr lang="en-US" sz="1800" dirty="0"/>
          </a:p>
        </p:txBody>
      </p:sp>
      <p:sp>
        <p:nvSpPr>
          <p:cNvPr id="8" name="Text 5"/>
          <p:cNvSpPr/>
          <p:nvPr/>
        </p:nvSpPr>
        <p:spPr>
          <a:xfrm>
            <a:off x="822960" y="2331720"/>
            <a:ext cx="5212080" cy="35661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01C17"/>
                </a:solidFill>
                <a:latin typeface="Calibri" pitchFamily="34" charset="0"/>
                <a:ea typeface="Calibri" pitchFamily="34" charset="-122"/>
                <a:cs typeface="Calibri" pitchFamily="34" charset="-120"/>
              </a:rPr>
              <a:t>Most of what is on offer is one of two things: a 20-minute awareness video from a US vendor, or a university course on how to build a large language model. Almost nobody needs either.</a:t>
            </a:r>
            <a:endParaRPr lang="en-US" sz="1300" dirty="0"/>
          </a:p>
          <a:p>
            <a:pPr marL="177800" indent="-177800">
              <a:spcAft>
                <a:spcPts val="800"/>
              </a:spcAft>
              <a:buSzPct val="100000"/>
              <a:buChar char="•"/>
            </a:pPr>
            <a:r>
              <a:rPr lang="en-US" sz="1300" dirty="0">
                <a:solidFill>
                  <a:srgbClr val="201C17"/>
                </a:solidFill>
                <a:latin typeface="Calibri" pitchFamily="34" charset="0"/>
                <a:ea typeface="Calibri" pitchFamily="34" charset="-122"/>
                <a:cs typeface="Calibri" pitchFamily="34" charset="-120"/>
              </a:rPr>
              <a:t>Much of it is one to three years old, and in AI that is a different era. Anything that is not updated continuously is teaching the wrong thing.</a:t>
            </a:r>
            <a:endParaRPr lang="en-US" sz="1300" dirty="0"/>
          </a:p>
          <a:p>
            <a:pPr marL="177800" indent="-177800">
              <a:spcAft>
                <a:spcPts val="800"/>
              </a:spcAft>
              <a:buSzPct val="100000"/>
              <a:buChar char="•"/>
            </a:pPr>
            <a:r>
              <a:rPr lang="en-US" sz="1300" dirty="0">
                <a:solidFill>
                  <a:srgbClr val="201C17"/>
                </a:solidFill>
                <a:latin typeface="Calibri" pitchFamily="34" charset="0"/>
                <a:ea typeface="Calibri" pitchFamily="34" charset="-122"/>
                <a:cs typeface="Calibri" pitchFamily="34" charset="-120"/>
              </a:rPr>
              <a:t>Little of it is written from a UK point of view: UK tax, UK law, UK employers, UK public services.</a:t>
            </a:r>
            <a:endParaRPr lang="en-US" sz="1300" dirty="0"/>
          </a:p>
          <a:p>
            <a:pPr marL="177800" indent="-177800">
              <a:spcAft>
                <a:spcPts val="800"/>
              </a:spcAft>
              <a:buSzPct val="100000"/>
              <a:buChar char="•"/>
            </a:pPr>
            <a:r>
              <a:rPr lang="en-US" sz="1300" dirty="0">
                <a:solidFill>
                  <a:srgbClr val="201C17"/>
                </a:solidFill>
                <a:latin typeface="Calibri" pitchFamily="34" charset="0"/>
                <a:ea typeface="Calibri" pitchFamily="34" charset="-122"/>
                <a:cs typeface="Calibri" pitchFamily="34" charset="-120"/>
              </a:rPr>
              <a:t>Hardly any of it asks you to build something, and none of it gives you proof that still means something six months later.</a:t>
            </a:r>
            <a:endParaRPr lang="en-US" sz="1300" dirty="0"/>
          </a:p>
        </p:txBody>
      </p:sp>
      <p:sp>
        <p:nvSpPr>
          <p:cNvPr id="9" name="Shape 6"/>
          <p:cNvSpPr/>
          <p:nvPr/>
        </p:nvSpPr>
        <p:spPr>
          <a:xfrm>
            <a:off x="6492240" y="1691640"/>
            <a:ext cx="5148072" cy="4389120"/>
          </a:xfrm>
          <a:prstGeom prst="roundRect">
            <a:avLst>
              <a:gd name="adj" fmla="val 1667"/>
            </a:avLst>
          </a:prstGeom>
          <a:solidFill>
            <a:srgbClr val="FFFFFF"/>
          </a:solidFill>
          <a:ln w="9525">
            <a:solidFill>
              <a:srgbClr val="DDD8CB"/>
            </a:solidFill>
            <a:prstDash val="solid"/>
          </a:ln>
        </p:spPr>
        <p:txBody>
          <a:bodyPr/>
          <a:lstStyle/>
          <a:p>
            <a:endParaRPr lang="en-GB"/>
          </a:p>
        </p:txBody>
      </p:sp>
      <p:sp>
        <p:nvSpPr>
          <p:cNvPr id="10" name="Text 7"/>
          <p:cNvSpPr/>
          <p:nvPr/>
        </p:nvSpPr>
        <p:spPr>
          <a:xfrm>
            <a:off x="6766560" y="1828800"/>
            <a:ext cx="4663440" cy="411480"/>
          </a:xfrm>
          <a:prstGeom prst="rect">
            <a:avLst/>
          </a:prstGeom>
          <a:noFill/>
          <a:ln/>
        </p:spPr>
        <p:txBody>
          <a:bodyPr wrap="square" lIns="0" tIns="0" rIns="0" bIns="0" rtlCol="0" anchor="ctr"/>
          <a:lstStyle/>
          <a:p>
            <a:pPr marL="0" indent="0">
              <a:buNone/>
            </a:pPr>
            <a:r>
              <a:rPr lang="en-US" sz="1800" b="1" dirty="0">
                <a:solidFill>
                  <a:srgbClr val="A94C2E"/>
                </a:solidFill>
                <a:latin typeface="Cambria" pitchFamily="34" charset="0"/>
                <a:ea typeface="Cambria" pitchFamily="34" charset="-122"/>
                <a:cs typeface="Cambria" pitchFamily="34" charset="-120"/>
              </a:rPr>
              <a:t>So GWTH was built to be</a:t>
            </a:r>
            <a:endParaRPr lang="en-US" sz="1800" dirty="0"/>
          </a:p>
        </p:txBody>
      </p:sp>
      <p:sp>
        <p:nvSpPr>
          <p:cNvPr id="11" name="Shape 8"/>
          <p:cNvSpPr/>
          <p:nvPr/>
        </p:nvSpPr>
        <p:spPr>
          <a:xfrm>
            <a:off x="6766560" y="2395728"/>
            <a:ext cx="384048" cy="384048"/>
          </a:xfrm>
          <a:prstGeom prst="ellipse">
            <a:avLst/>
          </a:prstGeom>
          <a:solidFill>
            <a:srgbClr val="2C4A47"/>
          </a:solidFill>
          <a:ln w="12700">
            <a:solidFill>
              <a:srgbClr val="2C4A47"/>
            </a:solidFill>
            <a:prstDash val="solid"/>
          </a:ln>
        </p:spPr>
        <p:txBody>
          <a:bodyPr/>
          <a:lstStyle/>
          <a:p>
            <a:endParaRPr lang="en-GB"/>
          </a:p>
        </p:txBody>
      </p:sp>
      <p:sp>
        <p:nvSpPr>
          <p:cNvPr id="12" name="Text 9"/>
          <p:cNvSpPr/>
          <p:nvPr/>
        </p:nvSpPr>
        <p:spPr>
          <a:xfrm>
            <a:off x="6766560" y="23957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p:nvPr/>
        </p:nvSpPr>
        <p:spPr>
          <a:xfrm>
            <a:off x="7269480" y="2377440"/>
            <a:ext cx="4206240" cy="274320"/>
          </a:xfrm>
          <a:prstGeom prst="rect">
            <a:avLst/>
          </a:prstGeom>
          <a:noFill/>
          <a:ln/>
        </p:spPr>
        <p:txBody>
          <a:bodyPr wrap="square" lIns="0" tIns="0" rIns="0" bIns="0" rtlCol="0" anchor="ctr"/>
          <a:lstStyle/>
          <a:p>
            <a:pPr marL="0" indent="0">
              <a:buNone/>
            </a:pPr>
            <a:r>
              <a:rPr lang="en-US" sz="1400" b="1" dirty="0">
                <a:solidFill>
                  <a:srgbClr val="201C17"/>
                </a:solidFill>
                <a:latin typeface="Calibri" pitchFamily="34" charset="0"/>
                <a:ea typeface="Calibri" pitchFamily="34" charset="-122"/>
                <a:cs typeface="Calibri" pitchFamily="34" charset="-120"/>
              </a:rPr>
              <a:t>Affordable for everyone</a:t>
            </a:r>
            <a:endParaRPr lang="en-US" sz="1400" dirty="0"/>
          </a:p>
        </p:txBody>
      </p:sp>
      <p:sp>
        <p:nvSpPr>
          <p:cNvPr id="14" name="Text 11"/>
          <p:cNvSpPr/>
          <p:nvPr/>
        </p:nvSpPr>
        <p:spPr>
          <a:xfrm>
            <a:off x="7269480" y="2651760"/>
            <a:ext cx="4206240" cy="566928"/>
          </a:xfrm>
          <a:prstGeom prst="rect">
            <a:avLst/>
          </a:prstGeom>
          <a:noFill/>
          <a:ln/>
        </p:spPr>
        <p:txBody>
          <a:bodyPr wrap="square" lIns="0" tIns="0" rIns="0" bIns="0" rtlCol="0" anchor="t"/>
          <a:lstStyle/>
          <a:p>
            <a:pPr marL="0" indent="0">
              <a:buNone/>
            </a:pPr>
            <a:r>
              <a:rPr lang="en-US" sz="1200" dirty="0">
                <a:solidFill>
                  <a:srgbClr val="63655F"/>
                </a:solidFill>
                <a:latin typeface="Calibri" pitchFamily="34" charset="0"/>
                <a:ea typeface="Calibri" pitchFamily="34" charset="-122"/>
                <a:cs typeface="Calibri" pitchFamily="34" charset="-120"/>
              </a:rPr>
              <a:t>You know what you pay and what you get. The price drops once the teaching is done.</a:t>
            </a:r>
            <a:endParaRPr lang="en-US" sz="1200" dirty="0"/>
          </a:p>
        </p:txBody>
      </p:sp>
      <p:sp>
        <p:nvSpPr>
          <p:cNvPr id="15" name="Shape 12"/>
          <p:cNvSpPr/>
          <p:nvPr/>
        </p:nvSpPr>
        <p:spPr>
          <a:xfrm>
            <a:off x="6766560" y="3291840"/>
            <a:ext cx="384048" cy="384048"/>
          </a:xfrm>
          <a:prstGeom prst="ellipse">
            <a:avLst/>
          </a:prstGeom>
          <a:solidFill>
            <a:srgbClr val="2A4530"/>
          </a:solidFill>
          <a:ln w="12700">
            <a:solidFill>
              <a:srgbClr val="2A4530"/>
            </a:solidFill>
            <a:prstDash val="solid"/>
          </a:ln>
        </p:spPr>
        <p:txBody>
          <a:bodyPr/>
          <a:lstStyle/>
          <a:p>
            <a:endParaRPr lang="en-GB"/>
          </a:p>
        </p:txBody>
      </p:sp>
      <p:sp>
        <p:nvSpPr>
          <p:cNvPr id="16" name="Text 13"/>
          <p:cNvSpPr/>
          <p:nvPr/>
        </p:nvSpPr>
        <p:spPr>
          <a:xfrm>
            <a:off x="6766560" y="32918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7269480" y="3273552"/>
            <a:ext cx="4206240" cy="274320"/>
          </a:xfrm>
          <a:prstGeom prst="rect">
            <a:avLst/>
          </a:prstGeom>
          <a:noFill/>
          <a:ln/>
        </p:spPr>
        <p:txBody>
          <a:bodyPr wrap="square" lIns="0" tIns="0" rIns="0" bIns="0" rtlCol="0" anchor="ctr"/>
          <a:lstStyle/>
          <a:p>
            <a:pPr marL="0" indent="0">
              <a:buNone/>
            </a:pPr>
            <a:r>
              <a:rPr lang="en-US" sz="1400" b="1" dirty="0">
                <a:solidFill>
                  <a:srgbClr val="201C17"/>
                </a:solidFill>
                <a:latin typeface="Calibri" pitchFamily="34" charset="0"/>
                <a:ea typeface="Calibri" pitchFamily="34" charset="-122"/>
                <a:cs typeface="Calibri" pitchFamily="34" charset="-120"/>
              </a:rPr>
              <a:t>Practical and proven</a:t>
            </a:r>
            <a:endParaRPr lang="en-US" sz="1400" dirty="0"/>
          </a:p>
        </p:txBody>
      </p:sp>
      <p:sp>
        <p:nvSpPr>
          <p:cNvPr id="18" name="Text 15"/>
          <p:cNvSpPr/>
          <p:nvPr/>
        </p:nvSpPr>
        <p:spPr>
          <a:xfrm>
            <a:off x="7269480" y="3547872"/>
            <a:ext cx="4206240" cy="566928"/>
          </a:xfrm>
          <a:prstGeom prst="rect">
            <a:avLst/>
          </a:prstGeom>
          <a:noFill/>
          <a:ln/>
        </p:spPr>
        <p:txBody>
          <a:bodyPr wrap="square" lIns="0" tIns="0" rIns="0" bIns="0" rtlCol="0" anchor="t"/>
          <a:lstStyle/>
          <a:p>
            <a:pPr marL="0" indent="0">
              <a:buNone/>
            </a:pPr>
            <a:r>
              <a:rPr lang="en-US" sz="1200" dirty="0">
                <a:solidFill>
                  <a:srgbClr val="63655F"/>
                </a:solidFill>
                <a:latin typeface="Calibri" pitchFamily="34" charset="0"/>
                <a:ea typeface="Calibri" pitchFamily="34" charset="-122"/>
                <a:cs typeface="Calibri" pitchFamily="34" charset="-120"/>
              </a:rPr>
              <a:t>You build in every lesson, keep what you build, and the record is verifiable by an employer.</a:t>
            </a:r>
            <a:endParaRPr lang="en-US" sz="1200" dirty="0"/>
          </a:p>
        </p:txBody>
      </p:sp>
      <p:sp>
        <p:nvSpPr>
          <p:cNvPr id="19" name="Shape 16"/>
          <p:cNvSpPr/>
          <p:nvPr/>
        </p:nvSpPr>
        <p:spPr>
          <a:xfrm>
            <a:off x="6766560" y="4187952"/>
            <a:ext cx="384048" cy="384048"/>
          </a:xfrm>
          <a:prstGeom prst="ellipse">
            <a:avLst/>
          </a:prstGeom>
          <a:solidFill>
            <a:srgbClr val="C08A36"/>
          </a:solidFill>
          <a:ln w="12700">
            <a:solidFill>
              <a:srgbClr val="C08A36"/>
            </a:solidFill>
            <a:prstDash val="solid"/>
          </a:ln>
        </p:spPr>
        <p:txBody>
          <a:bodyPr/>
          <a:lstStyle/>
          <a:p>
            <a:endParaRPr lang="en-GB"/>
          </a:p>
        </p:txBody>
      </p:sp>
      <p:sp>
        <p:nvSpPr>
          <p:cNvPr id="20" name="Text 17"/>
          <p:cNvSpPr/>
          <p:nvPr/>
        </p:nvSpPr>
        <p:spPr>
          <a:xfrm>
            <a:off x="6766560" y="418795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p:nvPr/>
        </p:nvSpPr>
        <p:spPr>
          <a:xfrm>
            <a:off x="7269480" y="4169664"/>
            <a:ext cx="4206240" cy="274320"/>
          </a:xfrm>
          <a:prstGeom prst="rect">
            <a:avLst/>
          </a:prstGeom>
          <a:noFill/>
          <a:ln/>
        </p:spPr>
        <p:txBody>
          <a:bodyPr wrap="square" lIns="0" tIns="0" rIns="0" bIns="0" rtlCol="0" anchor="ctr"/>
          <a:lstStyle/>
          <a:p>
            <a:pPr marL="0" indent="0">
              <a:buNone/>
            </a:pPr>
            <a:r>
              <a:rPr lang="en-US" sz="1400" b="1" dirty="0">
                <a:solidFill>
                  <a:srgbClr val="201C17"/>
                </a:solidFill>
                <a:latin typeface="Calibri" pitchFamily="34" charset="0"/>
                <a:ea typeface="Calibri" pitchFamily="34" charset="-122"/>
                <a:cs typeface="Calibri" pitchFamily="34" charset="-120"/>
              </a:rPr>
              <a:t>Kept current</a:t>
            </a:r>
            <a:endParaRPr lang="en-US" sz="1400" dirty="0"/>
          </a:p>
        </p:txBody>
      </p:sp>
      <p:sp>
        <p:nvSpPr>
          <p:cNvPr id="22" name="Text 19"/>
          <p:cNvSpPr/>
          <p:nvPr/>
        </p:nvSpPr>
        <p:spPr>
          <a:xfrm>
            <a:off x="7269480" y="4443984"/>
            <a:ext cx="4206240" cy="566928"/>
          </a:xfrm>
          <a:prstGeom prst="rect">
            <a:avLst/>
          </a:prstGeom>
          <a:noFill/>
          <a:ln/>
        </p:spPr>
        <p:txBody>
          <a:bodyPr wrap="square" lIns="0" tIns="0" rIns="0" bIns="0" rtlCol="0" anchor="t"/>
          <a:lstStyle/>
          <a:p>
            <a:pPr marL="0" indent="0">
              <a:buNone/>
            </a:pPr>
            <a:r>
              <a:rPr lang="en-US" sz="1200" dirty="0">
                <a:solidFill>
                  <a:srgbClr val="63655F"/>
                </a:solidFill>
                <a:latin typeface="Calibri" pitchFamily="34" charset="0"/>
                <a:ea typeface="Calibri" pitchFamily="34" charset="-122"/>
                <a:cs typeface="Calibri" pitchFamily="34" charset="-120"/>
              </a:rPr>
              <a:t>Around ten lessons refreshed every month. The record decays if you do not keep up, on purpose.</a:t>
            </a:r>
            <a:endParaRPr lang="en-US" sz="1200" dirty="0"/>
          </a:p>
        </p:txBody>
      </p:sp>
      <p:sp>
        <p:nvSpPr>
          <p:cNvPr id="23" name="Shape 20"/>
          <p:cNvSpPr/>
          <p:nvPr/>
        </p:nvSpPr>
        <p:spPr>
          <a:xfrm>
            <a:off x="6766560" y="5084064"/>
            <a:ext cx="384048" cy="384048"/>
          </a:xfrm>
          <a:prstGeom prst="ellipse">
            <a:avLst/>
          </a:prstGeom>
          <a:solidFill>
            <a:srgbClr val="A94C2E"/>
          </a:solidFill>
          <a:ln w="12700">
            <a:solidFill>
              <a:srgbClr val="A94C2E"/>
            </a:solidFill>
            <a:prstDash val="solid"/>
          </a:ln>
        </p:spPr>
        <p:txBody>
          <a:bodyPr/>
          <a:lstStyle/>
          <a:p>
            <a:endParaRPr lang="en-GB"/>
          </a:p>
        </p:txBody>
      </p:sp>
      <p:sp>
        <p:nvSpPr>
          <p:cNvPr id="24" name="Text 21"/>
          <p:cNvSpPr/>
          <p:nvPr/>
        </p:nvSpPr>
        <p:spPr>
          <a:xfrm>
            <a:off x="6766560" y="508406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p:nvPr/>
        </p:nvSpPr>
        <p:spPr>
          <a:xfrm>
            <a:off x="7269480" y="5065776"/>
            <a:ext cx="4206240" cy="274320"/>
          </a:xfrm>
          <a:prstGeom prst="rect">
            <a:avLst/>
          </a:prstGeom>
          <a:noFill/>
          <a:ln/>
        </p:spPr>
        <p:txBody>
          <a:bodyPr wrap="square" lIns="0" tIns="0" rIns="0" bIns="0" rtlCol="0" anchor="ctr"/>
          <a:lstStyle/>
          <a:p>
            <a:pPr marL="0" indent="0">
              <a:buNone/>
            </a:pPr>
            <a:r>
              <a:rPr lang="en-US" sz="1400" b="1" dirty="0">
                <a:solidFill>
                  <a:srgbClr val="201C17"/>
                </a:solidFill>
                <a:latin typeface="Calibri" pitchFamily="34" charset="0"/>
                <a:ea typeface="Calibri" pitchFamily="34" charset="-122"/>
                <a:cs typeface="Calibri" pitchFamily="34" charset="-120"/>
              </a:rPr>
              <a:t>Independent and plain-spoken</a:t>
            </a:r>
            <a:endParaRPr lang="en-US" sz="1400" dirty="0"/>
          </a:p>
        </p:txBody>
      </p:sp>
      <p:sp>
        <p:nvSpPr>
          <p:cNvPr id="26" name="Text 23"/>
          <p:cNvSpPr/>
          <p:nvPr/>
        </p:nvSpPr>
        <p:spPr>
          <a:xfrm>
            <a:off x="7269480" y="5340096"/>
            <a:ext cx="4206240" cy="566928"/>
          </a:xfrm>
          <a:prstGeom prst="rect">
            <a:avLst/>
          </a:prstGeom>
          <a:noFill/>
          <a:ln/>
        </p:spPr>
        <p:txBody>
          <a:bodyPr wrap="square" lIns="0" tIns="0" rIns="0" bIns="0" rtlCol="0" anchor="t"/>
          <a:lstStyle/>
          <a:p>
            <a:pPr marL="0" indent="0">
              <a:buNone/>
            </a:pPr>
            <a:r>
              <a:rPr lang="en-US" sz="1200" dirty="0">
                <a:solidFill>
                  <a:srgbClr val="63655F"/>
                </a:solidFill>
                <a:latin typeface="Calibri" pitchFamily="34" charset="0"/>
                <a:ea typeface="Calibri" pitchFamily="34" charset="-122"/>
                <a:cs typeface="Calibri" pitchFamily="34" charset="-120"/>
              </a:rPr>
              <a:t>No sponsors, no vendor curriculum, British English, no hype. Built by a UK solution architect with 25 years in enterprise software.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marL="0" indent="0" algn="r">
              <a:buNone/>
            </a:pPr>
            <a:r>
              <a:rPr lang="en-US" sz="1000" dirty="0">
                <a:solidFill>
                  <a:srgbClr val="63655F"/>
                </a:solidFill>
                <a:latin typeface="Calibri" pitchFamily="34" charset="0"/>
                <a:ea typeface="Calibri" pitchFamily="34" charset="-122"/>
                <a:cs typeface="Calibri" pitchFamily="34" charset="-120"/>
              </a:rPr>
              <a:t>4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marL="0" indent="0">
              <a:buNone/>
            </a:pPr>
            <a:r>
              <a:rPr lang="en-US" sz="3000" b="1" dirty="0">
                <a:solidFill>
                  <a:srgbClr val="201C17"/>
                </a:solidFill>
                <a:latin typeface="Cambria" pitchFamily="34" charset="0"/>
                <a:ea typeface="Cambria" pitchFamily="34" charset="-122"/>
                <a:cs typeface="Cambria" pitchFamily="34" charset="-120"/>
              </a:rPr>
              <a:t>How it benchmarks against the government AI hub</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marL="0" indent="0">
              <a:buNone/>
            </a:pPr>
            <a:r>
              <a:rPr lang="en-US" sz="1500" i="1" dirty="0">
                <a:solidFill>
                  <a:srgbClr val="63655F"/>
                </a:solidFill>
                <a:latin typeface="Calibri" pitchFamily="34" charset="0"/>
                <a:ea typeface="Calibri" pitchFamily="34" charset="-122"/>
                <a:cs typeface="Calibri" pitchFamily="34" charset="-120"/>
              </a:rPr>
              <a:t>Your honest view on this is the thing I most want from today. Here is how I see it.</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0881360" cy="3511296"/>
        </p:xfrm>
        <a:graphic>
          <a:graphicData uri="http://schemas.openxmlformats.org/drawingml/2006/table">
            <a:tbl>
              <a:tblPr/>
              <a:tblGrid>
                <a:gridCol w="201168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38912">
                <a:tc>
                  <a:txBody>
                    <a:bodyPr/>
                    <a:lstStyle/>
                    <a:p>
                      <a:pPr marL="0" indent="0">
                        <a:buNone/>
                      </a:pPr>
                      <a:endParaRPr lang="en-US" sz="130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AI Skills Hub (Boost + Marketplace)</a:t>
                      </a:r>
                      <a:endParaRPr lang="en-US" sz="130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GWTH</a:t>
                      </a:r>
                      <a:endParaRPr lang="en-US" sz="130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extLst>
                  <a:ext uri="{0D108BD9-81ED-4DB2-BD59-A6C34878D82A}">
                    <a16:rowId xmlns:a16="http://schemas.microsoft.com/office/drawing/2014/main" val="10000"/>
                  </a:ext>
                </a:extLst>
              </a:tr>
              <a:tr h="438912">
                <a:tc>
                  <a:txBody>
                    <a:bodyPr/>
                    <a:lstStyle/>
                    <a:p>
                      <a:pPr marL="0" indent="0">
                        <a:buNone/>
                      </a:pPr>
                      <a:r>
                        <a:rPr lang="en-US" sz="1250" b="1" dirty="0">
                          <a:solidFill>
                            <a:srgbClr val="201C17"/>
                          </a:solidFill>
                          <a:latin typeface="Calibri" pitchFamily="34" charset="0"/>
                          <a:ea typeface="Calibri" pitchFamily="34" charset="-122"/>
                          <a:cs typeface="Calibri" pitchFamily="34" charset="-120"/>
                        </a:rPr>
                        <a:t>Who made it</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250" dirty="0">
                          <a:solidFill>
                            <a:srgbClr val="201C17"/>
                          </a:solidFill>
                          <a:latin typeface="Calibri" pitchFamily="34" charset="0"/>
                          <a:ea typeface="Calibri" pitchFamily="34" charset="-122"/>
                          <a:cs typeface="Calibri" pitchFamily="34" charset="-120"/>
                        </a:rPr>
                        <a:t>Mostly US vendors: Google, Microsoft, Amazon, IBM</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250" dirty="0">
                          <a:solidFill>
                            <a:srgbClr val="2C4A47"/>
                          </a:solidFill>
                          <a:latin typeface="Calibri" pitchFamily="34" charset="0"/>
                          <a:ea typeface="Calibri" pitchFamily="34" charset="-122"/>
                          <a:cs typeface="Calibri" pitchFamily="34" charset="-120"/>
                        </a:rPr>
                        <a:t>Independent, UK-built, vendor-neutral</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250" b="1" dirty="0">
                          <a:solidFill>
                            <a:srgbClr val="201C17"/>
                          </a:solidFill>
                          <a:latin typeface="Calibri" pitchFamily="34" charset="0"/>
                          <a:ea typeface="Calibri" pitchFamily="34" charset="-122"/>
                          <a:cs typeface="Calibri" pitchFamily="34" charset="-120"/>
                        </a:rPr>
                        <a:t>Depth</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marL="0" indent="0">
                        <a:buNone/>
                      </a:pPr>
                      <a:r>
                        <a:rPr lang="en-US" sz="1250" dirty="0">
                          <a:solidFill>
                            <a:srgbClr val="201C17"/>
                          </a:solidFill>
                          <a:latin typeface="Calibri" pitchFamily="34" charset="0"/>
                          <a:ea typeface="Calibri" pitchFamily="34" charset="-122"/>
                          <a:cs typeface="Calibri" pitchFamily="34" charset="-120"/>
                        </a:rPr>
                        <a:t>20 minutes to 9 hours per course</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marL="0" indent="0">
                        <a:buNone/>
                      </a:pPr>
                      <a:r>
                        <a:rPr lang="en-US" sz="1250" dirty="0">
                          <a:solidFill>
                            <a:srgbClr val="2C4A47"/>
                          </a:solidFill>
                          <a:latin typeface="Calibri" pitchFamily="34" charset="0"/>
                          <a:ea typeface="Calibri" pitchFamily="34" charset="-122"/>
                          <a:cs typeface="Calibri" pitchFamily="34" charset="-120"/>
                        </a:rPr>
                        <a:t>120+ hours over three months</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extLst>
                  <a:ext uri="{0D108BD9-81ED-4DB2-BD59-A6C34878D82A}">
                    <a16:rowId xmlns:a16="http://schemas.microsoft.com/office/drawing/2014/main" val="10002"/>
                  </a:ext>
                </a:extLst>
              </a:tr>
              <a:tr h="438912">
                <a:tc>
                  <a:txBody>
                    <a:bodyPr/>
                    <a:lstStyle/>
                    <a:p>
                      <a:pPr marL="0" indent="0">
                        <a:buNone/>
                      </a:pPr>
                      <a:r>
                        <a:rPr lang="en-US" sz="1250" b="1" dirty="0">
                          <a:solidFill>
                            <a:srgbClr val="201C17"/>
                          </a:solidFill>
                          <a:latin typeface="Calibri" pitchFamily="34" charset="0"/>
                          <a:ea typeface="Calibri" pitchFamily="34" charset="-122"/>
                          <a:cs typeface="Calibri" pitchFamily="34" charset="-120"/>
                        </a:rPr>
                        <a:t>Hands-on</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250" dirty="0">
                          <a:solidFill>
                            <a:srgbClr val="201C17"/>
                          </a:solidFill>
                          <a:latin typeface="Calibri" pitchFamily="34" charset="0"/>
                          <a:ea typeface="Calibri" pitchFamily="34" charset="-122"/>
                          <a:cs typeface="Calibri" pitchFamily="34" charset="-120"/>
                        </a:rPr>
                        <a:t>Mostly watch-and-click</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250" dirty="0">
                          <a:solidFill>
                            <a:srgbClr val="2C4A47"/>
                          </a:solidFill>
                          <a:latin typeface="Calibri" pitchFamily="34" charset="0"/>
                          <a:ea typeface="Calibri" pitchFamily="34" charset="-122"/>
                          <a:cs typeface="Calibri" pitchFamily="34" charset="-120"/>
                        </a:rPr>
                        <a:t>A project in every lesson, three capstone apps</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250" b="1" dirty="0">
                          <a:solidFill>
                            <a:srgbClr val="201C17"/>
                          </a:solidFill>
                          <a:latin typeface="Calibri" pitchFamily="34" charset="0"/>
                          <a:ea typeface="Calibri" pitchFamily="34" charset="-122"/>
                          <a:cs typeface="Calibri" pitchFamily="34" charset="-120"/>
                        </a:rPr>
                        <a:t>Currency</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marL="0" indent="0">
                        <a:buNone/>
                      </a:pPr>
                      <a:r>
                        <a:rPr lang="en-US" sz="1250" dirty="0">
                          <a:solidFill>
                            <a:srgbClr val="201C17"/>
                          </a:solidFill>
                          <a:latin typeface="Calibri" pitchFamily="34" charset="0"/>
                          <a:ea typeface="Calibri" pitchFamily="34" charset="-122"/>
                          <a:cs typeface="Calibri" pitchFamily="34" charset="-120"/>
                        </a:rPr>
                        <a:t>Some content years old</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marL="0" indent="0">
                        <a:buNone/>
                      </a:pPr>
                      <a:r>
                        <a:rPr lang="en-US" sz="1250" dirty="0">
                          <a:solidFill>
                            <a:srgbClr val="2C4A47"/>
                          </a:solidFill>
                          <a:latin typeface="Calibri" pitchFamily="34" charset="0"/>
                          <a:ea typeface="Calibri" pitchFamily="34" charset="-122"/>
                          <a:cs typeface="Calibri" pitchFamily="34" charset="-120"/>
                        </a:rPr>
                        <a:t>Continuous updates; the record decays if you stop</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extLst>
                  <a:ext uri="{0D108BD9-81ED-4DB2-BD59-A6C34878D82A}">
                    <a16:rowId xmlns:a16="http://schemas.microsoft.com/office/drawing/2014/main" val="10004"/>
                  </a:ext>
                </a:extLst>
              </a:tr>
              <a:tr h="438912">
                <a:tc>
                  <a:txBody>
                    <a:bodyPr/>
                    <a:lstStyle/>
                    <a:p>
                      <a:pPr marL="0" indent="0">
                        <a:buNone/>
                      </a:pPr>
                      <a:r>
                        <a:rPr lang="en-US" sz="1250" b="1" dirty="0">
                          <a:solidFill>
                            <a:srgbClr val="201C17"/>
                          </a:solidFill>
                          <a:latin typeface="Calibri" pitchFamily="34" charset="0"/>
                          <a:ea typeface="Calibri" pitchFamily="34" charset="-122"/>
                          <a:cs typeface="Calibri" pitchFamily="34" charset="-120"/>
                        </a:rPr>
                        <a:t>Proof</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250" dirty="0">
                          <a:solidFill>
                            <a:srgbClr val="201C17"/>
                          </a:solidFill>
                          <a:latin typeface="Calibri" pitchFamily="34" charset="0"/>
                          <a:ea typeface="Calibri" pitchFamily="34" charset="-122"/>
                          <a:cs typeface="Calibri" pitchFamily="34" charset="-120"/>
                        </a:rPr>
                        <a:t>Completion badge</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250" dirty="0">
                          <a:solidFill>
                            <a:srgbClr val="2C4A47"/>
                          </a:solidFill>
                          <a:latin typeface="Calibri" pitchFamily="34" charset="0"/>
                          <a:ea typeface="Calibri" pitchFamily="34" charset="-122"/>
                          <a:cs typeface="Calibri" pitchFamily="34" charset="-120"/>
                        </a:rPr>
                        <a:t>Verifiable record of work, currentness built in</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250" b="1" dirty="0">
                          <a:solidFill>
                            <a:srgbClr val="201C17"/>
                          </a:solidFill>
                          <a:latin typeface="Calibri" pitchFamily="34" charset="0"/>
                          <a:ea typeface="Calibri" pitchFamily="34" charset="-122"/>
                          <a:cs typeface="Calibri" pitchFamily="34" charset="-120"/>
                        </a:rPr>
                        <a:t>UK context</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marL="0" indent="0">
                        <a:buNone/>
                      </a:pPr>
                      <a:r>
                        <a:rPr lang="en-US" sz="1250" dirty="0">
                          <a:solidFill>
                            <a:srgbClr val="201C17"/>
                          </a:solidFill>
                          <a:latin typeface="Calibri" pitchFamily="34" charset="0"/>
                          <a:ea typeface="Calibri" pitchFamily="34" charset="-122"/>
                          <a:cs typeface="Calibri" pitchFamily="34" charset="-120"/>
                        </a:rPr>
                        <a:t>Generic</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marL="0" indent="0">
                        <a:buNone/>
                      </a:pPr>
                      <a:r>
                        <a:rPr lang="en-US" sz="1250" dirty="0">
                          <a:solidFill>
                            <a:srgbClr val="2C4A47"/>
                          </a:solidFill>
                          <a:latin typeface="Calibri" pitchFamily="34" charset="0"/>
                          <a:ea typeface="Calibri" pitchFamily="34" charset="-122"/>
                          <a:cs typeface="Calibri" pitchFamily="34" charset="-120"/>
                        </a:rPr>
                        <a:t>UK examples, law, tax, public services</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extLst>
                  <a:ext uri="{0D108BD9-81ED-4DB2-BD59-A6C34878D82A}">
                    <a16:rowId xmlns:a16="http://schemas.microsoft.com/office/drawing/2014/main" val="10006"/>
                  </a:ext>
                </a:extLst>
              </a:tr>
              <a:tr h="438912">
                <a:tc>
                  <a:txBody>
                    <a:bodyPr/>
                    <a:lstStyle/>
                    <a:p>
                      <a:pPr marL="0" indent="0">
                        <a:buNone/>
                      </a:pPr>
                      <a:r>
                        <a:rPr lang="en-US" sz="1250" b="1" dirty="0">
                          <a:solidFill>
                            <a:srgbClr val="201C17"/>
                          </a:solidFill>
                          <a:latin typeface="Calibri" pitchFamily="34" charset="0"/>
                          <a:ea typeface="Calibri" pitchFamily="34" charset="-122"/>
                          <a:cs typeface="Calibri" pitchFamily="34" charset="-120"/>
                        </a:rPr>
                        <a:t>Finding it</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250" dirty="0">
                          <a:solidFill>
                            <a:srgbClr val="201C17"/>
                          </a:solidFill>
                          <a:latin typeface="Calibri" pitchFamily="34" charset="0"/>
                          <a:ea typeface="Calibri" pitchFamily="34" charset="-122"/>
                          <a:cs typeface="Calibri" pitchFamily="34" charset="-120"/>
                        </a:rPr>
                        <a:t>600+ listings to choose from</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250" dirty="0">
                          <a:solidFill>
                            <a:srgbClr val="2C4A47"/>
                          </a:solidFill>
                          <a:latin typeface="Calibri" pitchFamily="34" charset="0"/>
                          <a:ea typeface="Calibri" pitchFamily="34" charset="-122"/>
                          <a:cs typeface="Calibri" pitchFamily="34" charset="-120"/>
                        </a:rPr>
                        <a:t>One path, with optional lessons by role</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3"/>
          <p:cNvSpPr/>
          <p:nvPr/>
        </p:nvSpPr>
        <p:spPr>
          <a:xfrm>
            <a:off x="548640" y="5486400"/>
            <a:ext cx="11091672" cy="640080"/>
          </a:xfrm>
          <a:prstGeom prst="rect">
            <a:avLst/>
          </a:prstGeom>
          <a:noFill/>
          <a:ln/>
        </p:spPr>
        <p:txBody>
          <a:bodyPr wrap="square" lIns="0" tIns="0" rIns="0" bIns="0" rtlCol="0" anchor="t"/>
          <a:lstStyle/>
          <a:p>
            <a:pPr marL="0" indent="0">
              <a:buNone/>
            </a:pPr>
            <a:r>
              <a:rPr lang="en-US" sz="1200" b="1" dirty="0">
                <a:solidFill>
                  <a:srgbClr val="63655F"/>
                </a:solidFill>
                <a:latin typeface="Calibri" pitchFamily="34" charset="0"/>
                <a:ea typeface="Calibri" pitchFamily="34" charset="-122"/>
                <a:cs typeface="Calibri" pitchFamily="34" charset="-120"/>
              </a:rPr>
              <a:t>Context: </a:t>
            </a:r>
            <a:r>
              <a:rPr lang="en-US" sz="1200" dirty="0">
                <a:solidFill>
                  <a:srgbClr val="63655F"/>
                </a:solidFill>
                <a:latin typeface="Calibri" pitchFamily="34" charset="0"/>
                <a:ea typeface="Calibri" pitchFamily="34" charset="-122"/>
                <a:cs typeface="Calibri" pitchFamily="34" charset="-120"/>
              </a:rPr>
              <a:t>21% of UK workers feel confident using AI at work (DSIT, published Jan 2026, fieldwork 2024). 29% of UK businesses used at least one AI technology in June 2026 (ONS, July 2026). The hub has the reach; the question is whether the content changes either number.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4A4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marL="0" indent="0" algn="r">
              <a:buNone/>
            </a:pPr>
            <a:r>
              <a:rPr lang="en-US" sz="1000" dirty="0">
                <a:solidFill>
                  <a:srgbClr val="ECE8D2"/>
                </a:solidFill>
                <a:latin typeface="Calibri" pitchFamily="34" charset="0"/>
                <a:ea typeface="Calibri" pitchFamily="34" charset="-122"/>
                <a:cs typeface="Calibri" pitchFamily="34" charset="-120"/>
              </a:rPr>
              <a:t>5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marL="0" indent="0">
              <a:buNone/>
            </a:pPr>
            <a:r>
              <a:rPr lang="en-US" sz="3000" b="1" dirty="0">
                <a:solidFill>
                  <a:srgbClr val="FAF6EF"/>
                </a:solidFill>
                <a:latin typeface="Cambria" pitchFamily="34" charset="0"/>
                <a:ea typeface="Cambria" pitchFamily="34" charset="-122"/>
                <a:cs typeface="Cambria" pitchFamily="34" charset="-120"/>
              </a:rPr>
              <a:t>What I took from the 27 July call with CIPD</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marL="0" indent="0">
              <a:buNone/>
            </a:pPr>
            <a:r>
              <a:rPr lang="en-US" sz="1500" i="1" dirty="0">
                <a:solidFill>
                  <a:srgbClr val="ECE8D2"/>
                </a:solidFill>
                <a:latin typeface="Calibri" pitchFamily="34" charset="0"/>
                <a:ea typeface="Calibri" pitchFamily="34" charset="-122"/>
                <a:cs typeface="Calibri" pitchFamily="34" charset="-120"/>
              </a:rPr>
              <a:t>CIPD is rebuilding its AI learning around 14 products, mostly virtual classroom and face-to-face. The gap is underneath them.</a:t>
            </a:r>
            <a:endParaRPr lang="en-US" sz="1500" dirty="0"/>
          </a:p>
        </p:txBody>
      </p:sp>
      <p:sp>
        <p:nvSpPr>
          <p:cNvPr id="6" name="Shape 3"/>
          <p:cNvSpPr/>
          <p:nvPr/>
        </p:nvSpPr>
        <p:spPr>
          <a:xfrm>
            <a:off x="548640" y="1691640"/>
            <a:ext cx="5440680" cy="1920240"/>
          </a:xfrm>
          <a:prstGeom prst="roundRect">
            <a:avLst>
              <a:gd name="adj" fmla="val 3810"/>
            </a:avLst>
          </a:prstGeom>
          <a:solidFill>
            <a:srgbClr val="3A5C58"/>
          </a:solidFill>
          <a:ln w="12700">
            <a:solidFill>
              <a:srgbClr val="3A5C58"/>
            </a:solidFill>
            <a:prstDash val="solid"/>
          </a:ln>
        </p:spPr>
        <p:txBody>
          <a:bodyPr/>
          <a:lstStyle/>
          <a:p>
            <a:endParaRPr lang="en-GB"/>
          </a:p>
        </p:txBody>
      </p:sp>
      <p:sp>
        <p:nvSpPr>
          <p:cNvPr id="7" name="Text 4"/>
          <p:cNvSpPr/>
          <p:nvPr/>
        </p:nvSpPr>
        <p:spPr>
          <a:xfrm>
            <a:off x="822960" y="1874520"/>
            <a:ext cx="4892040" cy="1188720"/>
          </a:xfrm>
          <a:prstGeom prst="rect">
            <a:avLst/>
          </a:prstGeom>
          <a:noFill/>
          <a:ln/>
        </p:spPr>
        <p:txBody>
          <a:bodyPr wrap="square" lIns="0" tIns="0" rIns="0" bIns="0" rtlCol="0" anchor="t"/>
          <a:lstStyle/>
          <a:p>
            <a:pPr marL="0" indent="0">
              <a:buNone/>
            </a:pPr>
            <a:r>
              <a:rPr lang="en-US" sz="1450" i="1" dirty="0">
                <a:solidFill>
                  <a:srgbClr val="FAF6EF"/>
                </a:solidFill>
                <a:latin typeface="Cambria" pitchFamily="34" charset="0"/>
                <a:ea typeface="Cambria" pitchFamily="34" charset="-122"/>
                <a:cs typeface="Cambria" pitchFamily="34" charset="-120"/>
              </a:rPr>
              <a:t>“We're getting people coming in thinking they're better than they are, or with different fundamental understandings to other people in the room.”</a:t>
            </a:r>
            <a:endParaRPr lang="en-US" sz="1450" dirty="0"/>
          </a:p>
        </p:txBody>
      </p:sp>
      <p:sp>
        <p:nvSpPr>
          <p:cNvPr id="8" name="Text 5"/>
          <p:cNvSpPr/>
          <p:nvPr/>
        </p:nvSpPr>
        <p:spPr>
          <a:xfrm>
            <a:off x="822960" y="3063240"/>
            <a:ext cx="4892040" cy="411480"/>
          </a:xfrm>
          <a:prstGeom prst="rect">
            <a:avLst/>
          </a:prstGeom>
          <a:noFill/>
          <a:ln/>
        </p:spPr>
        <p:txBody>
          <a:bodyPr wrap="square" lIns="0" tIns="0" rIns="0" bIns="0" rtlCol="0" anchor="t"/>
          <a:lstStyle/>
          <a:p>
            <a:pPr marL="0" indent="0">
              <a:buNone/>
            </a:pPr>
            <a:r>
              <a:rPr lang="en-US" sz="1200" b="1" dirty="0">
                <a:solidFill>
                  <a:srgbClr val="C08A36"/>
                </a:solidFill>
                <a:latin typeface="Calibri" pitchFamily="34" charset="0"/>
                <a:ea typeface="Calibri" pitchFamily="34" charset="-122"/>
                <a:cs typeface="Calibri" pitchFamily="34" charset="-120"/>
              </a:rPr>
              <a:t>The baseline problem before any classroom course</a:t>
            </a:r>
            <a:endParaRPr lang="en-US" sz="1200" dirty="0"/>
          </a:p>
        </p:txBody>
      </p:sp>
      <p:sp>
        <p:nvSpPr>
          <p:cNvPr id="9" name="Shape 6"/>
          <p:cNvSpPr/>
          <p:nvPr/>
        </p:nvSpPr>
        <p:spPr>
          <a:xfrm>
            <a:off x="6172200" y="1691640"/>
            <a:ext cx="5440680" cy="1920240"/>
          </a:xfrm>
          <a:prstGeom prst="roundRect">
            <a:avLst>
              <a:gd name="adj" fmla="val 3810"/>
            </a:avLst>
          </a:prstGeom>
          <a:solidFill>
            <a:srgbClr val="3A5C58"/>
          </a:solidFill>
          <a:ln w="12700">
            <a:solidFill>
              <a:srgbClr val="3A5C58"/>
            </a:solidFill>
            <a:prstDash val="solid"/>
          </a:ln>
        </p:spPr>
        <p:txBody>
          <a:bodyPr/>
          <a:lstStyle/>
          <a:p>
            <a:endParaRPr lang="en-GB"/>
          </a:p>
        </p:txBody>
      </p:sp>
      <p:sp>
        <p:nvSpPr>
          <p:cNvPr id="10" name="Text 7"/>
          <p:cNvSpPr/>
          <p:nvPr/>
        </p:nvSpPr>
        <p:spPr>
          <a:xfrm>
            <a:off x="6446520" y="1874520"/>
            <a:ext cx="4892040" cy="1188720"/>
          </a:xfrm>
          <a:prstGeom prst="rect">
            <a:avLst/>
          </a:prstGeom>
          <a:noFill/>
          <a:ln/>
        </p:spPr>
        <p:txBody>
          <a:bodyPr wrap="square" lIns="0" tIns="0" rIns="0" bIns="0" rtlCol="0" anchor="t"/>
          <a:lstStyle/>
          <a:p>
            <a:pPr marL="0" indent="0">
              <a:buNone/>
            </a:pPr>
            <a:r>
              <a:rPr lang="en-US" sz="1450" i="1" dirty="0">
                <a:solidFill>
                  <a:srgbClr val="FAF6EF"/>
                </a:solidFill>
                <a:latin typeface="Cambria" pitchFamily="34" charset="0"/>
                <a:ea typeface="Cambria" pitchFamily="34" charset="-122"/>
                <a:cs typeface="Cambria" pitchFamily="34" charset="-120"/>
              </a:rPr>
              <a:t>“Something like what you've shown here could be a fantastic precursor to people going on some of those courses.”</a:t>
            </a:r>
            <a:endParaRPr lang="en-US" sz="1450" dirty="0"/>
          </a:p>
        </p:txBody>
      </p:sp>
      <p:sp>
        <p:nvSpPr>
          <p:cNvPr id="11" name="Text 8"/>
          <p:cNvSpPr/>
          <p:nvPr/>
        </p:nvSpPr>
        <p:spPr>
          <a:xfrm>
            <a:off x="6446520" y="3063240"/>
            <a:ext cx="4892040" cy="411480"/>
          </a:xfrm>
          <a:prstGeom prst="rect">
            <a:avLst/>
          </a:prstGeom>
          <a:noFill/>
          <a:ln/>
        </p:spPr>
        <p:txBody>
          <a:bodyPr wrap="square" lIns="0" tIns="0" rIns="0" bIns="0" rtlCol="0" anchor="t"/>
          <a:lstStyle/>
          <a:p>
            <a:pPr marL="0" indent="0">
              <a:buNone/>
            </a:pPr>
            <a:r>
              <a:rPr lang="en-US" sz="1200" b="1" dirty="0">
                <a:solidFill>
                  <a:srgbClr val="C08A36"/>
                </a:solidFill>
                <a:latin typeface="Calibri" pitchFamily="34" charset="0"/>
                <a:ea typeface="Calibri" pitchFamily="34" charset="-122"/>
                <a:cs typeface="Calibri" pitchFamily="34" charset="-120"/>
              </a:rPr>
              <a:t>GWTH as the foundation layer</a:t>
            </a:r>
            <a:endParaRPr lang="en-US" sz="1200" dirty="0"/>
          </a:p>
        </p:txBody>
      </p:sp>
      <p:sp>
        <p:nvSpPr>
          <p:cNvPr id="12" name="Shape 9"/>
          <p:cNvSpPr/>
          <p:nvPr/>
        </p:nvSpPr>
        <p:spPr>
          <a:xfrm>
            <a:off x="548640" y="3749040"/>
            <a:ext cx="5440680" cy="1920240"/>
          </a:xfrm>
          <a:prstGeom prst="roundRect">
            <a:avLst>
              <a:gd name="adj" fmla="val 3810"/>
            </a:avLst>
          </a:prstGeom>
          <a:solidFill>
            <a:srgbClr val="3A5C58"/>
          </a:solidFill>
          <a:ln w="12700">
            <a:solidFill>
              <a:srgbClr val="3A5C58"/>
            </a:solidFill>
            <a:prstDash val="solid"/>
          </a:ln>
        </p:spPr>
        <p:txBody>
          <a:bodyPr/>
          <a:lstStyle/>
          <a:p>
            <a:endParaRPr lang="en-GB"/>
          </a:p>
        </p:txBody>
      </p:sp>
      <p:sp>
        <p:nvSpPr>
          <p:cNvPr id="13" name="Text 10"/>
          <p:cNvSpPr/>
          <p:nvPr/>
        </p:nvSpPr>
        <p:spPr>
          <a:xfrm>
            <a:off x="822960" y="3931920"/>
            <a:ext cx="4892040" cy="1188720"/>
          </a:xfrm>
          <a:prstGeom prst="rect">
            <a:avLst/>
          </a:prstGeom>
          <a:noFill/>
          <a:ln/>
        </p:spPr>
        <p:txBody>
          <a:bodyPr wrap="square" lIns="0" tIns="0" rIns="0" bIns="0" rtlCol="0" anchor="t"/>
          <a:lstStyle/>
          <a:p>
            <a:pPr marL="0" indent="0">
              <a:buNone/>
            </a:pPr>
            <a:r>
              <a:rPr lang="en-US" sz="1450" i="1" dirty="0">
                <a:solidFill>
                  <a:srgbClr val="FAF6EF"/>
                </a:solidFill>
                <a:latin typeface="Cambria" pitchFamily="34" charset="0"/>
                <a:ea typeface="Cambria" pitchFamily="34" charset="-122"/>
                <a:cs typeface="Cambria" pitchFamily="34" charset="-120"/>
              </a:rPr>
              <a:t>“It's a real danger that we miss that building block, that foundational skill level and thinking level that needs to underpin all that practice.”</a:t>
            </a:r>
            <a:endParaRPr lang="en-US" sz="1450" dirty="0"/>
          </a:p>
        </p:txBody>
      </p:sp>
      <p:sp>
        <p:nvSpPr>
          <p:cNvPr id="14" name="Text 11"/>
          <p:cNvSpPr/>
          <p:nvPr/>
        </p:nvSpPr>
        <p:spPr>
          <a:xfrm>
            <a:off x="822960" y="5120640"/>
            <a:ext cx="4892040" cy="411480"/>
          </a:xfrm>
          <a:prstGeom prst="rect">
            <a:avLst/>
          </a:prstGeom>
          <a:noFill/>
          <a:ln/>
        </p:spPr>
        <p:txBody>
          <a:bodyPr wrap="square" lIns="0" tIns="0" rIns="0" bIns="0" rtlCol="0" anchor="t"/>
          <a:lstStyle/>
          <a:p>
            <a:pPr marL="0" indent="0">
              <a:buNone/>
            </a:pPr>
            <a:r>
              <a:rPr lang="en-US" sz="1200" b="1" dirty="0">
                <a:solidFill>
                  <a:srgbClr val="C08A36"/>
                </a:solidFill>
                <a:latin typeface="Calibri" pitchFamily="34" charset="0"/>
                <a:ea typeface="Calibri" pitchFamily="34" charset="-122"/>
                <a:cs typeface="Calibri" pitchFamily="34" charset="-120"/>
              </a:rPr>
              <a:t>The risk Steve is taking into his October plan</a:t>
            </a:r>
            <a:endParaRPr lang="en-US" sz="1200" dirty="0"/>
          </a:p>
        </p:txBody>
      </p:sp>
      <p:sp>
        <p:nvSpPr>
          <p:cNvPr id="15" name="Shape 12"/>
          <p:cNvSpPr/>
          <p:nvPr/>
        </p:nvSpPr>
        <p:spPr>
          <a:xfrm>
            <a:off x="6172200" y="3749040"/>
            <a:ext cx="5440680" cy="1920240"/>
          </a:xfrm>
          <a:prstGeom prst="roundRect">
            <a:avLst>
              <a:gd name="adj" fmla="val 3810"/>
            </a:avLst>
          </a:prstGeom>
          <a:solidFill>
            <a:srgbClr val="3A5C58"/>
          </a:solidFill>
          <a:ln w="12700">
            <a:solidFill>
              <a:srgbClr val="3A5C58"/>
            </a:solidFill>
            <a:prstDash val="solid"/>
          </a:ln>
        </p:spPr>
        <p:txBody>
          <a:bodyPr/>
          <a:lstStyle/>
          <a:p>
            <a:endParaRPr lang="en-GB"/>
          </a:p>
        </p:txBody>
      </p:sp>
      <p:sp>
        <p:nvSpPr>
          <p:cNvPr id="16" name="Text 13"/>
          <p:cNvSpPr/>
          <p:nvPr/>
        </p:nvSpPr>
        <p:spPr>
          <a:xfrm>
            <a:off x="6446520" y="3931920"/>
            <a:ext cx="4892040" cy="1188720"/>
          </a:xfrm>
          <a:prstGeom prst="rect">
            <a:avLst/>
          </a:prstGeom>
          <a:noFill/>
          <a:ln/>
        </p:spPr>
        <p:txBody>
          <a:bodyPr wrap="square" lIns="0" tIns="0" rIns="0" bIns="0" rtlCol="0" anchor="t"/>
          <a:lstStyle/>
          <a:p>
            <a:pPr marL="0" indent="0">
              <a:buNone/>
            </a:pPr>
            <a:r>
              <a:rPr lang="en-US" sz="1450" i="1" dirty="0">
                <a:solidFill>
                  <a:srgbClr val="FAF6EF"/>
                </a:solidFill>
                <a:latin typeface="Cambria" pitchFamily="34" charset="0"/>
                <a:ea typeface="Cambria" pitchFamily="34" charset="-122"/>
                <a:cs typeface="Cambria" pitchFamily="34" charset="-120"/>
              </a:rPr>
              <a:t>“The reason you're a CIPD member is because we can lift you up with really trusted, high quality support.”</a:t>
            </a:r>
            <a:endParaRPr lang="en-US" sz="1450" dirty="0"/>
          </a:p>
        </p:txBody>
      </p:sp>
      <p:sp>
        <p:nvSpPr>
          <p:cNvPr id="17" name="Text 14"/>
          <p:cNvSpPr/>
          <p:nvPr/>
        </p:nvSpPr>
        <p:spPr>
          <a:xfrm>
            <a:off x="6446520" y="5120640"/>
            <a:ext cx="4892040" cy="411480"/>
          </a:xfrm>
          <a:prstGeom prst="rect">
            <a:avLst/>
          </a:prstGeom>
          <a:noFill/>
          <a:ln/>
        </p:spPr>
        <p:txBody>
          <a:bodyPr wrap="square" lIns="0" tIns="0" rIns="0" bIns="0" rtlCol="0" anchor="t"/>
          <a:lstStyle/>
          <a:p>
            <a:pPr marL="0" indent="0">
              <a:buNone/>
            </a:pPr>
            <a:r>
              <a:rPr lang="en-US" sz="1200" b="1" dirty="0">
                <a:solidFill>
                  <a:srgbClr val="C08A36"/>
                </a:solidFill>
                <a:latin typeface="Calibri" pitchFamily="34" charset="0"/>
                <a:ea typeface="Calibri" pitchFamily="34" charset="-122"/>
                <a:cs typeface="Calibri" pitchFamily="34" charset="-120"/>
              </a:rPr>
              <a:t>Ben, on why a member benefit could fit</a:t>
            </a:r>
            <a:endParaRPr lang="en-US" sz="1200" dirty="0"/>
          </a:p>
        </p:txBody>
      </p:sp>
      <p:sp>
        <p:nvSpPr>
          <p:cNvPr id="18" name="Text 15"/>
          <p:cNvSpPr/>
          <p:nvPr/>
        </p:nvSpPr>
        <p:spPr>
          <a:xfrm>
            <a:off x="548640" y="5760720"/>
            <a:ext cx="11091672" cy="457200"/>
          </a:xfrm>
          <a:prstGeom prst="rect">
            <a:avLst/>
          </a:prstGeom>
          <a:noFill/>
          <a:ln/>
        </p:spPr>
        <p:txBody>
          <a:bodyPr wrap="square" lIns="0" tIns="0" rIns="0" bIns="0" rtlCol="0" anchor="t"/>
          <a:lstStyle/>
          <a:p>
            <a:pPr marL="0" indent="0">
              <a:buNone/>
            </a:pPr>
            <a:r>
              <a:rPr lang="en-US" sz="1150" dirty="0">
                <a:solidFill>
                  <a:srgbClr val="ECE8D2"/>
                </a:solidFill>
                <a:latin typeface="Calibri" pitchFamily="34" charset="0"/>
                <a:ea typeface="Calibri" pitchFamily="34" charset="-122"/>
                <a:cs typeface="Calibri" pitchFamily="34" charset="-120"/>
              </a:rPr>
              <a:t>Also agreed: CIPD does not promote other organisations' work, but a member benefit is a membership decision; Steve and I reconvene late October / early November once the new CEO has set direction; NDA plus a demo account for Steve to review the full syllabus.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marL="0" indent="0" algn="r">
              <a:buNone/>
            </a:pPr>
            <a:r>
              <a:rPr lang="en-US" sz="1000" dirty="0">
                <a:solidFill>
                  <a:srgbClr val="63655F"/>
                </a:solidFill>
                <a:latin typeface="Calibri" pitchFamily="34" charset="0"/>
                <a:ea typeface="Calibri" pitchFamily="34" charset="-122"/>
                <a:cs typeface="Calibri" pitchFamily="34" charset="-120"/>
              </a:rPr>
              <a:t>6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marL="0" indent="0">
              <a:buNone/>
            </a:pPr>
            <a:r>
              <a:rPr lang="en-US" sz="3000" b="1" dirty="0">
                <a:solidFill>
                  <a:srgbClr val="201C17"/>
                </a:solidFill>
                <a:latin typeface="Cambria" pitchFamily="34" charset="0"/>
                <a:ea typeface="Cambria" pitchFamily="34" charset="-122"/>
                <a:cs typeface="Cambria" pitchFamily="34" charset="-120"/>
              </a:rPr>
              <a:t>Ben's four objectives, mapped to the course</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marL="0" indent="0">
              <a:buNone/>
            </a:pPr>
            <a:r>
              <a:rPr lang="en-US" sz="1500" i="1" dirty="0">
                <a:solidFill>
                  <a:srgbClr val="63655F"/>
                </a:solidFill>
                <a:latin typeface="Calibri" pitchFamily="34" charset="0"/>
                <a:ea typeface="Calibri" pitchFamily="34" charset="-122"/>
                <a:cs typeface="Calibri" pitchFamily="34" charset="-120"/>
              </a:rPr>
              <a:t>From Ben's message of 12 August. The content is there; what changes is the framing and the path through it.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4087368"/>
        </p:xfrm>
        <a:graphic>
          <a:graphicData uri="http://schemas.openxmlformats.org/drawingml/2006/table">
            <a:tbl>
              <a:tblPr/>
              <a:tblGrid>
                <a:gridCol w="2926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CIPD wants to help…</a:t>
                      </a:r>
                      <a:endParaRPr lang="en-US" sz="130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Where it lives in GWTH today</a:t>
                      </a:r>
                      <a:endParaRPr lang="en-US" sz="130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a CIPD edition adds</a:t>
                      </a:r>
                      <a:endParaRPr lang="en-US" sz="130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extLst>
                  <a:ext uri="{0D108BD9-81ED-4DB2-BD59-A6C34878D82A}">
                    <a16:rowId xmlns:a16="http://schemas.microsoft.com/office/drawing/2014/main" val="10000"/>
                  </a:ext>
                </a:extLst>
              </a:tr>
              <a:tr h="896112">
                <a:tc>
                  <a:txBody>
                    <a:bodyPr/>
                    <a:lstStyle/>
                    <a:p>
                      <a:pPr marL="0" indent="0">
                        <a:buNone/>
                      </a:pPr>
                      <a:r>
                        <a:rPr lang="en-US" sz="1150" b="1" dirty="0">
                          <a:solidFill>
                            <a:srgbClr val="201C17"/>
                          </a:solidFill>
                          <a:latin typeface="Calibri" pitchFamily="34" charset="0"/>
                          <a:ea typeface="Calibri" pitchFamily="34" charset="-122"/>
                          <a:cs typeface="Calibri" pitchFamily="34" charset="-120"/>
                        </a:rPr>
                        <a:t>members use AI to do their HR roles better</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150" dirty="0">
                          <a:solidFill>
                            <a:srgbClr val="201C17"/>
                          </a:solidFill>
                          <a:latin typeface="Calibri" pitchFamily="34" charset="0"/>
                          <a:ea typeface="Calibri" pitchFamily="34" charset="-122"/>
                          <a:cs typeface="Calibri" pitchFamily="34" charset="-120"/>
                        </a:rPr>
                        <a:t>Month 1: the six things AI is good at, applied to your own job; every lesson ends in a built, kept artefact</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marL="0" indent="0">
                        <a:buNone/>
                      </a:pPr>
                      <a:r>
                        <a:rPr lang="en-US" sz="1150" dirty="0">
                          <a:solidFill>
                            <a:srgbClr val="A94C2E"/>
                          </a:solidFill>
                          <a:latin typeface="Calibri" pitchFamily="34" charset="0"/>
                          <a:ea typeface="Calibri" pitchFamily="34" charset="-122"/>
                          <a:cs typeface="Calibri" pitchFamily="34" charset="-120"/>
                        </a:rPr>
                        <a:t>HR-flavoured examples and projects chosen from the existing bank; the first lab is already 'Write a job advert: Claude vs ChatGPT'</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87552">
                <a:tc>
                  <a:txBody>
                    <a:bodyPr/>
                    <a:lstStyle/>
                    <a:p>
                      <a:pPr marL="0" indent="0">
                        <a:buNone/>
                      </a:pPr>
                      <a:r>
                        <a:rPr lang="en-US" sz="1150" b="1" dirty="0">
                          <a:solidFill>
                            <a:srgbClr val="201C17"/>
                          </a:solidFill>
                          <a:latin typeface="Calibri" pitchFamily="34" charset="0"/>
                          <a:ea typeface="Calibri" pitchFamily="34" charset="-122"/>
                          <a:cs typeface="Calibri" pitchFamily="34" charset="-120"/>
                        </a:rPr>
                        <a:t>HR functions become more efficient while managing people risks such as discrimination, as operating models change</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150" dirty="0">
                          <a:solidFill>
                            <a:srgbClr val="201C17"/>
                          </a:solidFill>
                          <a:latin typeface="Calibri" pitchFamily="34" charset="0"/>
                          <a:ea typeface="Calibri" pitchFamily="34" charset="-122"/>
                          <a:cs typeface="Calibri" pitchFamily="34" charset="-120"/>
                        </a:rPr>
                        <a:t>Months 2 and 3: workflows and apps for the function; governance, change management, how teams and managers change when people manage agents</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marL="0" indent="0">
                        <a:buNone/>
                      </a:pPr>
                      <a:r>
                        <a:rPr lang="en-US" sz="1150" dirty="0">
                          <a:solidFill>
                            <a:srgbClr val="A94C2E"/>
                          </a:solidFill>
                          <a:latin typeface="Calibri" pitchFamily="34" charset="0"/>
                          <a:ea typeface="Calibri" pitchFamily="34" charset="-122"/>
                          <a:cs typeface="Calibri" pitchFamily="34" charset="-120"/>
                        </a:rPr>
                        <a:t>A CIPD-curated 'responsible use and people risk' strand written with CIPD guidance, kept current on the same monthly cycle</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96112">
                <a:tc>
                  <a:txBody>
                    <a:bodyPr/>
                    <a:lstStyle/>
                    <a:p>
                      <a:pPr marL="0" indent="0">
                        <a:buNone/>
                      </a:pPr>
                      <a:r>
                        <a:rPr lang="en-US" sz="1150" b="1" dirty="0">
                          <a:solidFill>
                            <a:srgbClr val="201C17"/>
                          </a:solidFill>
                          <a:latin typeface="Calibri" pitchFamily="34" charset="0"/>
                          <a:ea typeface="Calibri" pitchFamily="34" charset="-122"/>
                          <a:cs typeface="Calibri" pitchFamily="34" charset="-120"/>
                        </a:rPr>
                        <a:t>HR directors and OD lead responsible, integrated AI adoption across the business</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150" dirty="0">
                          <a:solidFill>
                            <a:srgbClr val="201C17"/>
                          </a:solidFill>
                          <a:latin typeface="Calibri" pitchFamily="34" charset="0"/>
                          <a:ea typeface="Calibri" pitchFamily="34" charset="-122"/>
                          <a:cs typeface="Calibri" pitchFamily="34" charset="-120"/>
                        </a:rPr>
                        <a:t>Month 3: enterprise AI, agents, self-hosted AI, ROI; capstone is an AI readiness assessment of a whole organisation</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marL="0" indent="0">
                        <a:buNone/>
                      </a:pPr>
                      <a:r>
                        <a:rPr lang="en-US" sz="1150" dirty="0">
                          <a:solidFill>
                            <a:srgbClr val="A94C2E"/>
                          </a:solidFill>
                          <a:latin typeface="Calibri" pitchFamily="34" charset="0"/>
                          <a:ea typeface="Calibri" pitchFamily="34" charset="-122"/>
                          <a:cs typeface="Calibri" pitchFamily="34" charset="-120"/>
                        </a:rPr>
                        <a:t>A senior-leader path: the Month 3 core as the pre-read before CIPD's strategy and leading-implementation courses</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96112">
                <a:tc>
                  <a:txBody>
                    <a:bodyPr/>
                    <a:lstStyle/>
                    <a:p>
                      <a:pPr marL="0" indent="0">
                        <a:buNone/>
                      </a:pPr>
                      <a:r>
                        <a:rPr lang="en-US" sz="1150" b="1" dirty="0">
                          <a:solidFill>
                            <a:srgbClr val="201C17"/>
                          </a:solidFill>
                          <a:latin typeface="Calibri" pitchFamily="34" charset="0"/>
                          <a:ea typeface="Calibri" pitchFamily="34" charset="-122"/>
                          <a:cs typeface="Calibri" pitchFamily="34" charset="-120"/>
                        </a:rPr>
                        <a:t>organisations upskill their whole workforce to use AI in their jobs</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marL="0" indent="0">
                        <a:buNone/>
                      </a:pPr>
                      <a:r>
                        <a:rPr lang="en-US" sz="1150" dirty="0">
                          <a:solidFill>
                            <a:srgbClr val="201C17"/>
                          </a:solidFill>
                          <a:latin typeface="Calibri" pitchFamily="34" charset="0"/>
                          <a:ea typeface="Calibri" pitchFamily="34" charset="-122"/>
                          <a:cs typeface="Calibri" pitchFamily="34" charset="-120"/>
                        </a:rPr>
                        <a:t>The whole course is role-agnostic by design; the Teams dashboard assigns optional lessons per role and tracks completion</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marL="0" indent="0">
                        <a:buNone/>
                      </a:pPr>
                      <a:r>
                        <a:rPr lang="en-US" sz="1150" dirty="0">
                          <a:solidFill>
                            <a:srgbClr val="A94C2E"/>
                          </a:solidFill>
                          <a:latin typeface="Calibri" pitchFamily="34" charset="0"/>
                          <a:ea typeface="Calibri" pitchFamily="34" charset="-122"/>
                          <a:cs typeface="Calibri" pitchFamily="34" charset="-120"/>
                        </a:rPr>
                        <a:t>Employer cohorts bought through CIPD, with a baseline report per cohort before they reach a classroom</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marL="0" indent="0" algn="r">
              <a:buNone/>
            </a:pPr>
            <a:r>
              <a:rPr lang="en-US" sz="1000" dirty="0">
                <a:solidFill>
                  <a:srgbClr val="63655F"/>
                </a:solidFill>
                <a:latin typeface="Calibri" pitchFamily="34" charset="0"/>
                <a:ea typeface="Calibri" pitchFamily="34" charset="-122"/>
                <a:cs typeface="Calibri" pitchFamily="34" charset="-120"/>
              </a:rPr>
              <a:t>7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marL="0" indent="0">
              <a:buNone/>
            </a:pPr>
            <a:r>
              <a:rPr lang="en-US" sz="3000" b="1" dirty="0">
                <a:solidFill>
                  <a:srgbClr val="201C17"/>
                </a:solidFill>
                <a:latin typeface="Cambria" pitchFamily="34" charset="0"/>
                <a:ea typeface="Cambria" pitchFamily="34" charset="-122"/>
                <a:cs typeface="Cambria" pitchFamily="34" charset="-120"/>
              </a:rPr>
              <a:t>The idea: from 'Teams' to 'Curated by CIPD'</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marL="0" indent="0">
              <a:buNone/>
            </a:pPr>
            <a:r>
              <a:rPr lang="en-US" sz="1500" i="1" dirty="0">
                <a:solidFill>
                  <a:srgbClr val="63655F"/>
                </a:solidFill>
                <a:latin typeface="Calibri" pitchFamily="34" charset="0"/>
                <a:ea typeface="Calibri" pitchFamily="34" charset="-122"/>
                <a:cs typeface="Calibri" pitchFamily="34" charset="-120"/>
              </a:rPr>
              <a:t>Teams already gives an employer its own dashboard and a choice of optional lessons. A curated edition turns that into a wrapper a partner controls.</a:t>
            </a:r>
            <a:endParaRPr lang="en-US" sz="1500" dirty="0"/>
          </a:p>
        </p:txBody>
      </p:sp>
      <p:sp>
        <p:nvSpPr>
          <p:cNvPr id="6" name="Shape 3"/>
          <p:cNvSpPr/>
          <p:nvPr/>
        </p:nvSpPr>
        <p:spPr>
          <a:xfrm>
            <a:off x="548640" y="1737360"/>
            <a:ext cx="5120640" cy="4206240"/>
          </a:xfrm>
          <a:prstGeom prst="roundRect">
            <a:avLst>
              <a:gd name="adj" fmla="val 2174"/>
            </a:avLst>
          </a:prstGeom>
          <a:solidFill>
            <a:srgbClr val="FAF6EF"/>
          </a:solidFill>
          <a:ln w="9525">
            <a:solidFill>
              <a:srgbClr val="DDD8CB"/>
            </a:solidFill>
            <a:prstDash val="solid"/>
          </a:ln>
        </p:spPr>
        <p:txBody>
          <a:bodyPr/>
          <a:lstStyle/>
          <a:p>
            <a:endParaRPr lang="en-GB"/>
          </a:p>
        </p:txBody>
      </p:sp>
      <p:sp>
        <p:nvSpPr>
          <p:cNvPr id="7" name="Text 4"/>
          <p:cNvSpPr/>
          <p:nvPr/>
        </p:nvSpPr>
        <p:spPr>
          <a:xfrm>
            <a:off x="777240" y="1874520"/>
            <a:ext cx="4663440" cy="320040"/>
          </a:xfrm>
          <a:prstGeom prst="rect">
            <a:avLst/>
          </a:prstGeom>
          <a:noFill/>
          <a:ln/>
        </p:spPr>
        <p:txBody>
          <a:bodyPr wrap="square" lIns="0" tIns="0" rIns="0" bIns="0" rtlCol="0" anchor="ctr"/>
          <a:lstStyle/>
          <a:p>
            <a:pPr marL="0" indent="0">
              <a:buNone/>
            </a:pPr>
            <a:r>
              <a:rPr lang="en-US" sz="1300" b="1" dirty="0">
                <a:solidFill>
                  <a:srgbClr val="A94C2E"/>
                </a:solidFill>
                <a:latin typeface="Calibri" pitchFamily="34" charset="0"/>
                <a:ea typeface="Calibri" pitchFamily="34" charset="-122"/>
                <a:cs typeface="Calibri" pitchFamily="34" charset="-120"/>
              </a:rPr>
              <a:t>CIPD edition (wrapper)</a:t>
            </a:r>
            <a:endParaRPr lang="en-US" sz="1300" dirty="0"/>
          </a:p>
        </p:txBody>
      </p:sp>
      <p:sp>
        <p:nvSpPr>
          <p:cNvPr id="8" name="Text 5"/>
          <p:cNvSpPr/>
          <p:nvPr/>
        </p:nvSpPr>
        <p:spPr>
          <a:xfrm>
            <a:off x="777240" y="2194560"/>
            <a:ext cx="4663440" cy="502920"/>
          </a:xfrm>
          <a:prstGeom prst="rect">
            <a:avLst/>
          </a:prstGeom>
          <a:noFill/>
          <a:ln/>
        </p:spPr>
        <p:txBody>
          <a:bodyPr wrap="square" lIns="0" tIns="0" rIns="0" bIns="0" rtlCol="0" anchor="t"/>
          <a:lstStyle/>
          <a:p>
            <a:pPr marL="0" indent="0">
              <a:buNone/>
            </a:pPr>
            <a:r>
              <a:rPr lang="en-US" sz="1100" dirty="0">
                <a:solidFill>
                  <a:srgbClr val="63655F"/>
                </a:solidFill>
                <a:latin typeface="Calibri" pitchFamily="34" charset="0"/>
                <a:ea typeface="Calibri" pitchFamily="34" charset="-122"/>
                <a:cs typeface="Calibri" pitchFamily="34" charset="-120"/>
              </a:rPr>
              <a:t>cipd.gwth.ai or an address CIPD chooses. CIPD branding, CIPD framing pages, CIPD research woven in, member pricing.</a:t>
            </a:r>
            <a:endParaRPr lang="en-US" sz="1100" dirty="0"/>
          </a:p>
        </p:txBody>
      </p:sp>
      <p:sp>
        <p:nvSpPr>
          <p:cNvPr id="9" name="Shape 6"/>
          <p:cNvSpPr/>
          <p:nvPr/>
        </p:nvSpPr>
        <p:spPr>
          <a:xfrm>
            <a:off x="777240" y="2788920"/>
            <a:ext cx="4663440" cy="2926080"/>
          </a:xfrm>
          <a:prstGeom prst="roundRect">
            <a:avLst>
              <a:gd name="adj" fmla="val 3125"/>
            </a:avLst>
          </a:prstGeom>
          <a:solidFill>
            <a:srgbClr val="FFFFFF"/>
          </a:solidFill>
          <a:ln w="9525">
            <a:solidFill>
              <a:srgbClr val="DDD8CB"/>
            </a:solidFill>
            <a:prstDash val="solid"/>
          </a:ln>
        </p:spPr>
        <p:txBody>
          <a:bodyPr/>
          <a:lstStyle/>
          <a:p>
            <a:endParaRPr lang="en-GB"/>
          </a:p>
        </p:txBody>
      </p:sp>
      <p:sp>
        <p:nvSpPr>
          <p:cNvPr id="10" name="Text 7"/>
          <p:cNvSpPr/>
          <p:nvPr/>
        </p:nvSpPr>
        <p:spPr>
          <a:xfrm>
            <a:off x="1005840" y="2907792"/>
            <a:ext cx="4206240" cy="320040"/>
          </a:xfrm>
          <a:prstGeom prst="rect">
            <a:avLst/>
          </a:prstGeom>
          <a:noFill/>
          <a:ln/>
        </p:spPr>
        <p:txBody>
          <a:bodyPr wrap="square" lIns="0" tIns="0" rIns="0" bIns="0" rtlCol="0" anchor="ctr"/>
          <a:lstStyle/>
          <a:p>
            <a:pPr marL="0" indent="0">
              <a:buNone/>
            </a:pPr>
            <a:r>
              <a:rPr lang="en-US" sz="1300" b="1" dirty="0">
                <a:solidFill>
                  <a:srgbClr val="2C4A47"/>
                </a:solidFill>
                <a:latin typeface="Calibri" pitchFamily="34" charset="0"/>
                <a:ea typeface="Calibri" pitchFamily="34" charset="-122"/>
                <a:cs typeface="Calibri" pitchFamily="34" charset="-120"/>
              </a:rPr>
              <a:t>Curated paths (Teams engine)</a:t>
            </a:r>
            <a:endParaRPr lang="en-US" sz="1300" dirty="0"/>
          </a:p>
        </p:txBody>
      </p:sp>
      <p:sp>
        <p:nvSpPr>
          <p:cNvPr id="11" name="Text 8"/>
          <p:cNvSpPr/>
          <p:nvPr/>
        </p:nvSpPr>
        <p:spPr>
          <a:xfrm>
            <a:off x="1005840" y="3227832"/>
            <a:ext cx="4206240" cy="548640"/>
          </a:xfrm>
          <a:prstGeom prst="rect">
            <a:avLst/>
          </a:prstGeom>
          <a:noFill/>
          <a:ln/>
        </p:spPr>
        <p:txBody>
          <a:bodyPr wrap="square" lIns="0" tIns="0" rIns="0" bIns="0" rtlCol="0" anchor="t"/>
          <a:lstStyle/>
          <a:p>
            <a:pPr marL="0" indent="0">
              <a:buNone/>
            </a:pPr>
            <a:r>
              <a:rPr lang="en-US" sz="1100" dirty="0">
                <a:solidFill>
                  <a:srgbClr val="63655F"/>
                </a:solidFill>
                <a:latin typeface="Calibri" pitchFamily="34" charset="0"/>
                <a:ea typeface="Calibri" pitchFamily="34" charset="-122"/>
                <a:cs typeface="Calibri" pitchFamily="34" charset="-120"/>
              </a:rPr>
              <a:t>Which lessons are core for an HR practitioner, an HRD, a recruiter; which optional lessons are switched on; cohort dashboard and baseline report.</a:t>
            </a:r>
            <a:endParaRPr lang="en-US" sz="1100" dirty="0"/>
          </a:p>
        </p:txBody>
      </p:sp>
      <p:sp>
        <p:nvSpPr>
          <p:cNvPr id="12" name="Shape 9"/>
          <p:cNvSpPr/>
          <p:nvPr/>
        </p:nvSpPr>
        <p:spPr>
          <a:xfrm>
            <a:off x="1005840" y="3840480"/>
            <a:ext cx="4206240" cy="1645920"/>
          </a:xfrm>
          <a:prstGeom prst="roundRect">
            <a:avLst>
              <a:gd name="adj" fmla="val 5556"/>
            </a:avLst>
          </a:prstGeom>
          <a:solidFill>
            <a:srgbClr val="2C4A47"/>
          </a:solidFill>
          <a:ln w="12700">
            <a:solidFill>
              <a:srgbClr val="2C4A47"/>
            </a:solidFill>
            <a:prstDash val="solid"/>
          </a:ln>
        </p:spPr>
        <p:txBody>
          <a:bodyPr/>
          <a:lstStyle/>
          <a:p>
            <a:endParaRPr lang="en-GB"/>
          </a:p>
        </p:txBody>
      </p:sp>
      <p:sp>
        <p:nvSpPr>
          <p:cNvPr id="13" name="Text 10"/>
          <p:cNvSpPr/>
          <p:nvPr/>
        </p:nvSpPr>
        <p:spPr>
          <a:xfrm>
            <a:off x="1234440" y="3950208"/>
            <a:ext cx="3749040" cy="320040"/>
          </a:xfrm>
          <a:prstGeom prst="rect">
            <a:avLst/>
          </a:prstGeom>
          <a:noFill/>
          <a:ln/>
        </p:spPr>
        <p:txBody>
          <a:bodyPr wrap="square" lIns="0" tIns="0" rIns="0" bIns="0" rtlCol="0" anchor="ctr"/>
          <a:lstStyle/>
          <a:p>
            <a:pPr marL="0" indent="0">
              <a:buNone/>
            </a:pPr>
            <a:r>
              <a:rPr lang="en-US" sz="1300" b="1" dirty="0">
                <a:solidFill>
                  <a:srgbClr val="FAF6EF"/>
                </a:solidFill>
                <a:latin typeface="Calibri" pitchFamily="34" charset="0"/>
                <a:ea typeface="Calibri" pitchFamily="34" charset="-122"/>
                <a:cs typeface="Calibri" pitchFamily="34" charset="-120"/>
              </a:rPr>
              <a:t>GWTH core</a:t>
            </a:r>
            <a:endParaRPr lang="en-US" sz="1300" dirty="0"/>
          </a:p>
        </p:txBody>
      </p:sp>
      <p:sp>
        <p:nvSpPr>
          <p:cNvPr id="14" name="Text 11"/>
          <p:cNvSpPr/>
          <p:nvPr/>
        </p:nvSpPr>
        <p:spPr>
          <a:xfrm>
            <a:off x="1234440" y="4279392"/>
            <a:ext cx="3749040" cy="1097280"/>
          </a:xfrm>
          <a:prstGeom prst="rect">
            <a:avLst/>
          </a:prstGeom>
          <a:noFill/>
          <a:ln/>
        </p:spPr>
        <p:txBody>
          <a:bodyPr wrap="square" lIns="0" tIns="0" rIns="0" bIns="0" rtlCol="0" anchor="t"/>
          <a:lstStyle/>
          <a:p>
            <a:pPr marL="0" indent="0">
              <a:buNone/>
            </a:pPr>
            <a:r>
              <a:rPr lang="en-US" sz="1100" dirty="0">
                <a:solidFill>
                  <a:srgbClr val="ECE8D2"/>
                </a:solidFill>
                <a:latin typeface="Calibri" pitchFamily="34" charset="0"/>
                <a:ea typeface="Calibri" pitchFamily="34" charset="-122"/>
                <a:cs typeface="Calibri" pitchFamily="34" charset="-120"/>
              </a:rPr>
              <a:t>96 lessons, labs, projects, the record, monthly updates. One body of content, maintained once, served through every wrapper.</a:t>
            </a:r>
            <a:endParaRPr lang="en-US" sz="1100" dirty="0"/>
          </a:p>
        </p:txBody>
      </p:sp>
      <p:sp>
        <p:nvSpPr>
          <p:cNvPr id="15" name="Text 12"/>
          <p:cNvSpPr/>
          <p:nvPr/>
        </p:nvSpPr>
        <p:spPr>
          <a:xfrm>
            <a:off x="6126480" y="1737360"/>
            <a:ext cx="5486400" cy="365760"/>
          </a:xfrm>
          <a:prstGeom prst="rect">
            <a:avLst/>
          </a:prstGeom>
          <a:noFill/>
          <a:ln/>
        </p:spPr>
        <p:txBody>
          <a:bodyPr wrap="square" lIns="0" tIns="0" rIns="0" bIns="0" rtlCol="0" anchor="ctr"/>
          <a:lstStyle/>
          <a:p>
            <a:pPr marL="0" indent="0">
              <a:buNone/>
            </a:pPr>
            <a:r>
              <a:rPr lang="en-US" sz="1800" b="1" dirty="0">
                <a:solidFill>
                  <a:srgbClr val="201C17"/>
                </a:solidFill>
                <a:latin typeface="Cambria" pitchFamily="34" charset="0"/>
                <a:ea typeface="Cambria" pitchFamily="34" charset="-122"/>
                <a:cs typeface="Cambria" pitchFamily="34" charset="-120"/>
              </a:rPr>
              <a:t>What CIPD would control</a:t>
            </a:r>
            <a:endParaRPr lang="en-US" sz="1800" dirty="0"/>
          </a:p>
        </p:txBody>
      </p:sp>
      <p:sp>
        <p:nvSpPr>
          <p:cNvPr id="16" name="Shape 13"/>
          <p:cNvSpPr/>
          <p:nvPr/>
        </p:nvSpPr>
        <p:spPr>
          <a:xfrm>
            <a:off x="6126480" y="2231136"/>
            <a:ext cx="310896" cy="310896"/>
          </a:xfrm>
          <a:prstGeom prst="ellipse">
            <a:avLst/>
          </a:prstGeom>
          <a:solidFill>
            <a:srgbClr val="2C4A47"/>
          </a:solidFill>
          <a:ln w="12700">
            <a:solidFill>
              <a:srgbClr val="333333"/>
            </a:solidFill>
            <a:prstDash val="solid"/>
          </a:ln>
        </p:spPr>
        <p:txBody>
          <a:bodyPr/>
          <a:lstStyle/>
          <a:p>
            <a:endParaRPr lang="en-GB"/>
          </a:p>
        </p:txBody>
      </p:sp>
      <p:sp>
        <p:nvSpPr>
          <p:cNvPr id="17" name="Text 14"/>
          <p:cNvSpPr/>
          <p:nvPr/>
        </p:nvSpPr>
        <p:spPr>
          <a:xfrm>
            <a:off x="6583680" y="2194560"/>
            <a:ext cx="1005840" cy="384048"/>
          </a:xfrm>
          <a:prstGeom prst="rect">
            <a:avLst/>
          </a:prstGeom>
          <a:noFill/>
          <a:ln/>
        </p:spPr>
        <p:txBody>
          <a:bodyPr wrap="square" lIns="0" tIns="0" rIns="0" bIns="0" rtlCol="0" anchor="ctr"/>
          <a:lstStyle/>
          <a:p>
            <a:pPr marL="0" indent="0">
              <a:buNone/>
            </a:pPr>
            <a:r>
              <a:rPr lang="en-US" sz="1300" b="1" dirty="0">
                <a:solidFill>
                  <a:srgbClr val="201C17"/>
                </a:solidFill>
                <a:latin typeface="Calibri" pitchFamily="34" charset="0"/>
                <a:ea typeface="Calibri" pitchFamily="34" charset="-122"/>
                <a:cs typeface="Calibri" pitchFamily="34" charset="-120"/>
              </a:rPr>
              <a:t>Look</a:t>
            </a:r>
            <a:endParaRPr lang="en-US" sz="1300" dirty="0"/>
          </a:p>
        </p:txBody>
      </p:sp>
      <p:sp>
        <p:nvSpPr>
          <p:cNvPr id="18" name="Text 15"/>
          <p:cNvSpPr/>
          <p:nvPr/>
        </p:nvSpPr>
        <p:spPr>
          <a:xfrm>
            <a:off x="7589520" y="2194560"/>
            <a:ext cx="4023360" cy="548640"/>
          </a:xfrm>
          <a:prstGeom prst="rect">
            <a:avLst/>
          </a:prstGeom>
          <a:noFill/>
          <a:ln/>
        </p:spPr>
        <p:txBody>
          <a:bodyPr wrap="square" lIns="0" tIns="0" rIns="0" bIns="0" rtlCol="0" anchor="t"/>
          <a:lstStyle/>
          <a:p>
            <a:pPr marL="0" indent="0">
              <a:buNone/>
            </a:pPr>
            <a:r>
              <a:rPr lang="en-US" sz="1150" dirty="0">
                <a:solidFill>
                  <a:srgbClr val="63655F"/>
                </a:solidFill>
                <a:latin typeface="Calibri" pitchFamily="34" charset="0"/>
                <a:ea typeface="Calibri" pitchFamily="34" charset="-122"/>
                <a:cs typeface="Calibri" pitchFamily="34" charset="-120"/>
              </a:rPr>
              <a:t>Co-branded so it reads as CIPD-curated</a:t>
            </a:r>
            <a:endParaRPr lang="en-US" sz="1150" dirty="0"/>
          </a:p>
        </p:txBody>
      </p:sp>
      <p:sp>
        <p:nvSpPr>
          <p:cNvPr id="19" name="Shape 16"/>
          <p:cNvSpPr/>
          <p:nvPr/>
        </p:nvSpPr>
        <p:spPr>
          <a:xfrm>
            <a:off x="6126480" y="2852928"/>
            <a:ext cx="310896" cy="310896"/>
          </a:xfrm>
          <a:prstGeom prst="ellipse">
            <a:avLst/>
          </a:prstGeom>
          <a:solidFill>
            <a:srgbClr val="2A4530"/>
          </a:solidFill>
          <a:ln w="12700">
            <a:solidFill>
              <a:srgbClr val="333333"/>
            </a:solidFill>
            <a:prstDash val="solid"/>
          </a:ln>
        </p:spPr>
        <p:txBody>
          <a:bodyPr/>
          <a:lstStyle/>
          <a:p>
            <a:endParaRPr lang="en-GB"/>
          </a:p>
        </p:txBody>
      </p:sp>
      <p:sp>
        <p:nvSpPr>
          <p:cNvPr id="20" name="Text 17"/>
          <p:cNvSpPr/>
          <p:nvPr/>
        </p:nvSpPr>
        <p:spPr>
          <a:xfrm>
            <a:off x="6583680" y="2816352"/>
            <a:ext cx="1005840" cy="384048"/>
          </a:xfrm>
          <a:prstGeom prst="rect">
            <a:avLst/>
          </a:prstGeom>
          <a:noFill/>
          <a:ln/>
        </p:spPr>
        <p:txBody>
          <a:bodyPr wrap="square" lIns="0" tIns="0" rIns="0" bIns="0" rtlCol="0" anchor="ctr"/>
          <a:lstStyle/>
          <a:p>
            <a:pPr marL="0" indent="0">
              <a:buNone/>
            </a:pPr>
            <a:r>
              <a:rPr lang="en-US" sz="1300" b="1" dirty="0">
                <a:solidFill>
                  <a:srgbClr val="201C17"/>
                </a:solidFill>
                <a:latin typeface="Calibri" pitchFamily="34" charset="0"/>
                <a:ea typeface="Calibri" pitchFamily="34" charset="-122"/>
                <a:cs typeface="Calibri" pitchFamily="34" charset="-120"/>
              </a:rPr>
              <a:t>Path</a:t>
            </a:r>
            <a:endParaRPr lang="en-US" sz="1300" dirty="0"/>
          </a:p>
        </p:txBody>
      </p:sp>
      <p:sp>
        <p:nvSpPr>
          <p:cNvPr id="21" name="Text 18"/>
          <p:cNvSpPr/>
          <p:nvPr/>
        </p:nvSpPr>
        <p:spPr>
          <a:xfrm>
            <a:off x="7589520" y="2816352"/>
            <a:ext cx="4023360" cy="548640"/>
          </a:xfrm>
          <a:prstGeom prst="rect">
            <a:avLst/>
          </a:prstGeom>
          <a:noFill/>
          <a:ln/>
        </p:spPr>
        <p:txBody>
          <a:bodyPr wrap="square" lIns="0" tIns="0" rIns="0" bIns="0" rtlCol="0" anchor="t"/>
          <a:lstStyle/>
          <a:p>
            <a:pPr marL="0" indent="0">
              <a:buNone/>
            </a:pPr>
            <a:r>
              <a:rPr lang="en-US" sz="1150" dirty="0">
                <a:solidFill>
                  <a:srgbClr val="63655F"/>
                </a:solidFill>
                <a:latin typeface="Calibri" pitchFamily="34" charset="0"/>
                <a:ea typeface="Calibri" pitchFamily="34" charset="-122"/>
                <a:cs typeface="Calibri" pitchFamily="34" charset="-120"/>
              </a:rPr>
              <a:t>Which lessons are core per HR role, which are optional; a senior-leader path</a:t>
            </a:r>
            <a:endParaRPr lang="en-US" sz="1150" dirty="0"/>
          </a:p>
        </p:txBody>
      </p:sp>
      <p:sp>
        <p:nvSpPr>
          <p:cNvPr id="22" name="Shape 19"/>
          <p:cNvSpPr/>
          <p:nvPr/>
        </p:nvSpPr>
        <p:spPr>
          <a:xfrm>
            <a:off x="6126480" y="3474720"/>
            <a:ext cx="310896" cy="310896"/>
          </a:xfrm>
          <a:prstGeom prst="ellipse">
            <a:avLst/>
          </a:prstGeom>
          <a:solidFill>
            <a:srgbClr val="C08A36"/>
          </a:solidFill>
          <a:ln w="12700">
            <a:solidFill>
              <a:srgbClr val="333333"/>
            </a:solidFill>
            <a:prstDash val="solid"/>
          </a:ln>
        </p:spPr>
        <p:txBody>
          <a:bodyPr/>
          <a:lstStyle/>
          <a:p>
            <a:endParaRPr lang="en-GB"/>
          </a:p>
        </p:txBody>
      </p:sp>
      <p:sp>
        <p:nvSpPr>
          <p:cNvPr id="23" name="Text 20"/>
          <p:cNvSpPr/>
          <p:nvPr/>
        </p:nvSpPr>
        <p:spPr>
          <a:xfrm>
            <a:off x="6583680" y="3438144"/>
            <a:ext cx="1005840" cy="384048"/>
          </a:xfrm>
          <a:prstGeom prst="rect">
            <a:avLst/>
          </a:prstGeom>
          <a:noFill/>
          <a:ln/>
        </p:spPr>
        <p:txBody>
          <a:bodyPr wrap="square" lIns="0" tIns="0" rIns="0" bIns="0" rtlCol="0" anchor="ctr"/>
          <a:lstStyle/>
          <a:p>
            <a:pPr marL="0" indent="0">
              <a:buNone/>
            </a:pPr>
            <a:r>
              <a:rPr lang="en-US" sz="1300" b="1" dirty="0">
                <a:solidFill>
                  <a:srgbClr val="201C17"/>
                </a:solidFill>
                <a:latin typeface="Calibri" pitchFamily="34" charset="0"/>
                <a:ea typeface="Calibri" pitchFamily="34" charset="-122"/>
                <a:cs typeface="Calibri" pitchFamily="34" charset="-120"/>
              </a:rPr>
              <a:t>Voice</a:t>
            </a:r>
            <a:endParaRPr lang="en-US" sz="1300" dirty="0"/>
          </a:p>
        </p:txBody>
      </p:sp>
      <p:sp>
        <p:nvSpPr>
          <p:cNvPr id="24" name="Text 21"/>
          <p:cNvSpPr/>
          <p:nvPr/>
        </p:nvSpPr>
        <p:spPr>
          <a:xfrm>
            <a:off x="7589520" y="3438144"/>
            <a:ext cx="4023360" cy="548640"/>
          </a:xfrm>
          <a:prstGeom prst="rect">
            <a:avLst/>
          </a:prstGeom>
          <a:noFill/>
          <a:ln/>
        </p:spPr>
        <p:txBody>
          <a:bodyPr wrap="square" lIns="0" tIns="0" rIns="0" bIns="0" rtlCol="0" anchor="t"/>
          <a:lstStyle/>
          <a:p>
            <a:pPr marL="0" indent="0">
              <a:buNone/>
            </a:pPr>
            <a:r>
              <a:rPr lang="en-US" sz="1150" dirty="0">
                <a:solidFill>
                  <a:srgbClr val="63655F"/>
                </a:solidFill>
                <a:latin typeface="Calibri" pitchFamily="34" charset="0"/>
                <a:ea typeface="Calibri" pitchFamily="34" charset="-122"/>
                <a:cs typeface="Calibri" pitchFamily="34" charset="-120"/>
              </a:rPr>
              <a:t>CIPD framing at the start of each month, CIPD research and guidance cited inside lessons</a:t>
            </a:r>
            <a:endParaRPr lang="en-US" sz="1150" dirty="0"/>
          </a:p>
        </p:txBody>
      </p:sp>
      <p:sp>
        <p:nvSpPr>
          <p:cNvPr id="25" name="Shape 22"/>
          <p:cNvSpPr/>
          <p:nvPr/>
        </p:nvSpPr>
        <p:spPr>
          <a:xfrm>
            <a:off x="6126480" y="4096512"/>
            <a:ext cx="310896" cy="310896"/>
          </a:xfrm>
          <a:prstGeom prst="ellipse">
            <a:avLst/>
          </a:prstGeom>
          <a:solidFill>
            <a:srgbClr val="A94C2E"/>
          </a:solidFill>
          <a:ln w="12700">
            <a:solidFill>
              <a:srgbClr val="333333"/>
            </a:solidFill>
            <a:prstDash val="solid"/>
          </a:ln>
        </p:spPr>
        <p:txBody>
          <a:bodyPr/>
          <a:lstStyle/>
          <a:p>
            <a:endParaRPr lang="en-GB"/>
          </a:p>
        </p:txBody>
      </p:sp>
      <p:sp>
        <p:nvSpPr>
          <p:cNvPr id="26" name="Text 23"/>
          <p:cNvSpPr/>
          <p:nvPr/>
        </p:nvSpPr>
        <p:spPr>
          <a:xfrm>
            <a:off x="6583680" y="4059936"/>
            <a:ext cx="1005840" cy="384048"/>
          </a:xfrm>
          <a:prstGeom prst="rect">
            <a:avLst/>
          </a:prstGeom>
          <a:noFill/>
          <a:ln/>
        </p:spPr>
        <p:txBody>
          <a:bodyPr wrap="square" lIns="0" tIns="0" rIns="0" bIns="0" rtlCol="0" anchor="ctr"/>
          <a:lstStyle/>
          <a:p>
            <a:pPr marL="0" indent="0">
              <a:buNone/>
            </a:pPr>
            <a:r>
              <a:rPr lang="en-US" sz="1300" b="1" dirty="0">
                <a:solidFill>
                  <a:srgbClr val="201C17"/>
                </a:solidFill>
                <a:latin typeface="Calibri" pitchFamily="34" charset="0"/>
                <a:ea typeface="Calibri" pitchFamily="34" charset="-122"/>
                <a:cs typeface="Calibri" pitchFamily="34" charset="-120"/>
              </a:rPr>
              <a:t>People</a:t>
            </a:r>
            <a:endParaRPr lang="en-US" sz="1300" dirty="0"/>
          </a:p>
        </p:txBody>
      </p:sp>
      <p:sp>
        <p:nvSpPr>
          <p:cNvPr id="27" name="Text 24"/>
          <p:cNvSpPr/>
          <p:nvPr/>
        </p:nvSpPr>
        <p:spPr>
          <a:xfrm>
            <a:off x="7589520" y="4059936"/>
            <a:ext cx="4023360" cy="548640"/>
          </a:xfrm>
          <a:prstGeom prst="rect">
            <a:avLst/>
          </a:prstGeom>
          <a:noFill/>
          <a:ln/>
        </p:spPr>
        <p:txBody>
          <a:bodyPr wrap="square" lIns="0" tIns="0" rIns="0" bIns="0" rtlCol="0" anchor="t"/>
          <a:lstStyle/>
          <a:p>
            <a:pPr marL="0" indent="0">
              <a:buNone/>
            </a:pPr>
            <a:r>
              <a:rPr lang="en-US" sz="1150" dirty="0">
                <a:solidFill>
                  <a:srgbClr val="63655F"/>
                </a:solidFill>
                <a:latin typeface="Calibri" pitchFamily="34" charset="0"/>
                <a:ea typeface="Calibri" pitchFamily="34" charset="-122"/>
                <a:cs typeface="Calibri" pitchFamily="34" charset="-120"/>
              </a:rPr>
              <a:t>Member access and pricing</a:t>
            </a:r>
            <a:endParaRPr lang="en-US" sz="1150" dirty="0"/>
          </a:p>
        </p:txBody>
      </p:sp>
      <p:sp>
        <p:nvSpPr>
          <p:cNvPr id="28" name="Shape 25"/>
          <p:cNvSpPr/>
          <p:nvPr/>
        </p:nvSpPr>
        <p:spPr>
          <a:xfrm>
            <a:off x="6126480" y="4718304"/>
            <a:ext cx="310896" cy="310896"/>
          </a:xfrm>
          <a:prstGeom prst="ellipse">
            <a:avLst/>
          </a:prstGeom>
          <a:solidFill>
            <a:srgbClr val="2C4A47"/>
          </a:solidFill>
          <a:ln w="12700">
            <a:solidFill>
              <a:srgbClr val="333333"/>
            </a:solidFill>
            <a:prstDash val="solid"/>
          </a:ln>
        </p:spPr>
        <p:txBody>
          <a:bodyPr/>
          <a:lstStyle/>
          <a:p>
            <a:endParaRPr lang="en-GB"/>
          </a:p>
        </p:txBody>
      </p:sp>
      <p:sp>
        <p:nvSpPr>
          <p:cNvPr id="29" name="Text 26"/>
          <p:cNvSpPr/>
          <p:nvPr/>
        </p:nvSpPr>
        <p:spPr>
          <a:xfrm>
            <a:off x="6583680" y="4681728"/>
            <a:ext cx="1005840" cy="384048"/>
          </a:xfrm>
          <a:prstGeom prst="rect">
            <a:avLst/>
          </a:prstGeom>
          <a:noFill/>
          <a:ln/>
        </p:spPr>
        <p:txBody>
          <a:bodyPr wrap="square" lIns="0" tIns="0" rIns="0" bIns="0" rtlCol="0" anchor="ctr"/>
          <a:lstStyle/>
          <a:p>
            <a:pPr marL="0" indent="0">
              <a:buNone/>
            </a:pPr>
            <a:r>
              <a:rPr lang="en-US" sz="1300" b="1" dirty="0">
                <a:solidFill>
                  <a:srgbClr val="201C17"/>
                </a:solidFill>
                <a:latin typeface="Calibri" pitchFamily="34" charset="0"/>
                <a:ea typeface="Calibri" pitchFamily="34" charset="-122"/>
                <a:cs typeface="Calibri" pitchFamily="34" charset="-120"/>
              </a:rPr>
              <a:t>Proof</a:t>
            </a:r>
            <a:endParaRPr lang="en-US" sz="1300" dirty="0"/>
          </a:p>
        </p:txBody>
      </p:sp>
      <p:sp>
        <p:nvSpPr>
          <p:cNvPr id="30" name="Text 27"/>
          <p:cNvSpPr/>
          <p:nvPr/>
        </p:nvSpPr>
        <p:spPr>
          <a:xfrm>
            <a:off x="7589520" y="4681728"/>
            <a:ext cx="4023360" cy="548640"/>
          </a:xfrm>
          <a:prstGeom prst="rect">
            <a:avLst/>
          </a:prstGeom>
          <a:noFill/>
          <a:ln/>
        </p:spPr>
        <p:txBody>
          <a:bodyPr wrap="square" lIns="0" tIns="0" rIns="0" bIns="0" rtlCol="0" anchor="t"/>
          <a:lstStyle/>
          <a:p>
            <a:pPr marL="0" indent="0">
              <a:buNone/>
            </a:pPr>
            <a:r>
              <a:rPr lang="en-US" sz="1150" dirty="0">
                <a:solidFill>
                  <a:srgbClr val="63655F"/>
                </a:solidFill>
                <a:latin typeface="Calibri" pitchFamily="34" charset="0"/>
                <a:ea typeface="Calibri" pitchFamily="34" charset="-122"/>
                <a:cs typeface="Calibri" pitchFamily="34" charset="-120"/>
              </a:rPr>
              <a:t>The certificate says the student took the CIPD pathway</a:t>
            </a:r>
            <a:endParaRPr lang="en-US" sz="1150" dirty="0"/>
          </a:p>
        </p:txBody>
      </p:sp>
      <p:sp>
        <p:nvSpPr>
          <p:cNvPr id="31" name="Shape 28"/>
          <p:cNvSpPr/>
          <p:nvPr/>
        </p:nvSpPr>
        <p:spPr>
          <a:xfrm>
            <a:off x="6126480" y="5340096"/>
            <a:ext cx="310896" cy="310896"/>
          </a:xfrm>
          <a:prstGeom prst="ellipse">
            <a:avLst/>
          </a:prstGeom>
          <a:solidFill>
            <a:srgbClr val="2A4530"/>
          </a:solidFill>
          <a:ln w="12700">
            <a:solidFill>
              <a:srgbClr val="333333"/>
            </a:solidFill>
            <a:prstDash val="solid"/>
          </a:ln>
        </p:spPr>
        <p:txBody>
          <a:bodyPr/>
          <a:lstStyle/>
          <a:p>
            <a:endParaRPr lang="en-GB"/>
          </a:p>
        </p:txBody>
      </p:sp>
      <p:sp>
        <p:nvSpPr>
          <p:cNvPr id="32" name="Text 29"/>
          <p:cNvSpPr/>
          <p:nvPr/>
        </p:nvSpPr>
        <p:spPr>
          <a:xfrm>
            <a:off x="6583680" y="5303520"/>
            <a:ext cx="1005840" cy="384048"/>
          </a:xfrm>
          <a:prstGeom prst="rect">
            <a:avLst/>
          </a:prstGeom>
          <a:noFill/>
          <a:ln/>
        </p:spPr>
        <p:txBody>
          <a:bodyPr wrap="square" lIns="0" tIns="0" rIns="0" bIns="0" rtlCol="0" anchor="ctr"/>
          <a:lstStyle/>
          <a:p>
            <a:pPr marL="0" indent="0">
              <a:buNone/>
            </a:pPr>
            <a:r>
              <a:rPr lang="en-US" sz="1300" b="1" dirty="0">
                <a:solidFill>
                  <a:srgbClr val="201C17"/>
                </a:solidFill>
                <a:latin typeface="Calibri" pitchFamily="34" charset="0"/>
                <a:ea typeface="Calibri" pitchFamily="34" charset="-122"/>
                <a:cs typeface="Calibri" pitchFamily="34" charset="-120"/>
              </a:rPr>
              <a:t>Hand-off</a:t>
            </a:r>
            <a:endParaRPr lang="en-US" sz="1300" dirty="0"/>
          </a:p>
        </p:txBody>
      </p:sp>
      <p:sp>
        <p:nvSpPr>
          <p:cNvPr id="33" name="Text 30"/>
          <p:cNvSpPr/>
          <p:nvPr/>
        </p:nvSpPr>
        <p:spPr>
          <a:xfrm>
            <a:off x="7589520" y="5303520"/>
            <a:ext cx="4023360" cy="548640"/>
          </a:xfrm>
          <a:prstGeom prst="rect">
            <a:avLst/>
          </a:prstGeom>
          <a:noFill/>
          <a:ln/>
        </p:spPr>
        <p:txBody>
          <a:bodyPr wrap="square" lIns="0" tIns="0" rIns="0" bIns="0" rtlCol="0" anchor="t"/>
          <a:lstStyle/>
          <a:p>
            <a:pPr marL="0" indent="0">
              <a:buNone/>
            </a:pPr>
            <a:r>
              <a:rPr lang="en-US" sz="1150" dirty="0">
                <a:solidFill>
                  <a:srgbClr val="63655F"/>
                </a:solidFill>
                <a:latin typeface="Calibri" pitchFamily="34" charset="0"/>
                <a:ea typeface="Calibri" pitchFamily="34" charset="-122"/>
                <a:cs typeface="Calibri" pitchFamily="34" charset="-120"/>
              </a:rPr>
              <a:t>Each path ends by pointing to the matching CIPD or partner course</a:t>
            </a:r>
            <a:endParaRPr lang="en-US" sz="1150" dirty="0"/>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marL="0" indent="0" algn="r">
              <a:buNone/>
            </a:pPr>
            <a:r>
              <a:rPr lang="en-US" sz="1000" dirty="0">
                <a:solidFill>
                  <a:srgbClr val="63655F"/>
                </a:solidFill>
                <a:latin typeface="Calibri" pitchFamily="34" charset="0"/>
                <a:ea typeface="Calibri" pitchFamily="34" charset="-122"/>
                <a:cs typeface="Calibri" pitchFamily="34" charset="-120"/>
              </a:rPr>
              <a:t>8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marL="0" indent="0">
              <a:buNone/>
            </a:pPr>
            <a:r>
              <a:rPr lang="en-US" sz="3000" b="1" dirty="0">
                <a:solidFill>
                  <a:srgbClr val="201C17"/>
                </a:solidFill>
                <a:latin typeface="Cambria" pitchFamily="34" charset="0"/>
                <a:ea typeface="Cambria" pitchFamily="34" charset="-122"/>
                <a:cs typeface="Cambria" pitchFamily="34" charset="-120"/>
              </a:rPr>
              <a:t>A foundation for CIPD and partner courses</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marL="0" indent="0">
              <a:buNone/>
            </a:pPr>
            <a:r>
              <a:rPr lang="en-US" sz="1500" i="1" dirty="0">
                <a:solidFill>
                  <a:srgbClr val="63655F"/>
                </a:solidFill>
                <a:latin typeface="Calibri" pitchFamily="34" charset="0"/>
                <a:ea typeface="Calibri" pitchFamily="34" charset="-122"/>
                <a:cs typeface="Calibri" pitchFamily="34" charset="-120"/>
              </a:rPr>
              <a:t>The flow Steve described: people arrive on a classroom course at a known level, and stay current afterwards.</a:t>
            </a:r>
            <a:endParaRPr lang="en-US" sz="1500" dirty="0"/>
          </a:p>
        </p:txBody>
      </p:sp>
      <p:sp>
        <p:nvSpPr>
          <p:cNvPr id="6" name="Shape 3"/>
          <p:cNvSpPr/>
          <p:nvPr/>
        </p:nvSpPr>
        <p:spPr>
          <a:xfrm>
            <a:off x="548640" y="1920240"/>
            <a:ext cx="2103120" cy="3017520"/>
          </a:xfrm>
          <a:prstGeom prst="roundRect">
            <a:avLst>
              <a:gd name="adj" fmla="val 3478"/>
            </a:avLst>
          </a:prstGeom>
          <a:solidFill>
            <a:srgbClr val="FFFFFF"/>
          </a:solidFill>
          <a:ln w="9525">
            <a:solidFill>
              <a:srgbClr val="DDD8CB"/>
            </a:solidFill>
            <a:prstDash val="solid"/>
          </a:ln>
        </p:spPr>
        <p:txBody>
          <a:bodyPr/>
          <a:lstStyle/>
          <a:p>
            <a:endParaRPr lang="en-GB"/>
          </a:p>
        </p:txBody>
      </p:sp>
      <p:sp>
        <p:nvSpPr>
          <p:cNvPr id="7" name="Shape 4"/>
          <p:cNvSpPr/>
          <p:nvPr/>
        </p:nvSpPr>
        <p:spPr>
          <a:xfrm>
            <a:off x="777240" y="2103120"/>
            <a:ext cx="384048" cy="384048"/>
          </a:xfrm>
          <a:prstGeom prst="ellipse">
            <a:avLst/>
          </a:prstGeom>
          <a:solidFill>
            <a:srgbClr val="2C4A47"/>
          </a:solidFill>
          <a:ln w="12700">
            <a:solidFill>
              <a:srgbClr val="2C4A47"/>
            </a:solidFill>
            <a:prstDash val="solid"/>
          </a:ln>
        </p:spPr>
        <p:txBody>
          <a:bodyPr/>
          <a:lstStyle/>
          <a:p>
            <a:endParaRPr lang="en-GB"/>
          </a:p>
        </p:txBody>
      </p:sp>
      <p:sp>
        <p:nvSpPr>
          <p:cNvPr id="8" name="Text 5"/>
          <p:cNvSpPr/>
          <p:nvPr/>
        </p:nvSpPr>
        <p:spPr>
          <a:xfrm>
            <a:off x="777240" y="21031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777240" y="2606040"/>
            <a:ext cx="1691640" cy="640080"/>
          </a:xfrm>
          <a:prstGeom prst="rect">
            <a:avLst/>
          </a:prstGeom>
          <a:noFill/>
          <a:ln/>
        </p:spPr>
        <p:txBody>
          <a:bodyPr wrap="square" lIns="0" tIns="0" rIns="0" bIns="0" rtlCol="0" anchor="t"/>
          <a:lstStyle/>
          <a:p>
            <a:pPr marL="0" indent="0">
              <a:buNone/>
            </a:pPr>
            <a:r>
              <a:rPr lang="en-US" sz="1350" b="1" dirty="0">
                <a:solidFill>
                  <a:srgbClr val="201C17"/>
                </a:solidFill>
                <a:latin typeface="Calibri" pitchFamily="34" charset="0"/>
                <a:ea typeface="Calibri" pitchFamily="34" charset="-122"/>
                <a:cs typeface="Calibri" pitchFamily="34" charset="-120"/>
              </a:rPr>
              <a:t>Member joins the CIPD edition</a:t>
            </a:r>
            <a:endParaRPr lang="en-US" sz="1350" dirty="0"/>
          </a:p>
        </p:txBody>
      </p:sp>
      <p:sp>
        <p:nvSpPr>
          <p:cNvPr id="10" name="Text 7"/>
          <p:cNvSpPr/>
          <p:nvPr/>
        </p:nvSpPr>
        <p:spPr>
          <a:xfrm>
            <a:off x="777240" y="3291840"/>
            <a:ext cx="1691640" cy="1554480"/>
          </a:xfrm>
          <a:prstGeom prst="rect">
            <a:avLst/>
          </a:prstGeom>
          <a:noFill/>
          <a:ln/>
        </p:spPr>
        <p:txBody>
          <a:bodyPr wrap="square" lIns="0" tIns="0" rIns="0" bIns="0" rtlCol="0" anchor="t"/>
          <a:lstStyle/>
          <a:p>
            <a:pPr marL="0" indent="0">
              <a:buNone/>
            </a:pPr>
            <a:r>
              <a:rPr lang="en-US" sz="1150" dirty="0">
                <a:solidFill>
                  <a:srgbClr val="63655F"/>
                </a:solidFill>
                <a:latin typeface="Calibri" pitchFamily="34" charset="0"/>
                <a:ea typeface="Calibri" pitchFamily="34" charset="-122"/>
                <a:cs typeface="Calibri" pitchFamily="34" charset="-120"/>
              </a:rPr>
              <a:t>Self-directed, five hours a week, from anywhere. Starts with the Month 1 foundation or a CIPD-chosen path.</a:t>
            </a:r>
            <a:endParaRPr lang="en-US" sz="1150" dirty="0"/>
          </a:p>
        </p:txBody>
      </p:sp>
      <p:sp>
        <p:nvSpPr>
          <p:cNvPr id="11" name="Text 8"/>
          <p:cNvSpPr/>
          <p:nvPr/>
        </p:nvSpPr>
        <p:spPr>
          <a:xfrm>
            <a:off x="2624328" y="3108960"/>
            <a:ext cx="228600" cy="457200"/>
          </a:xfrm>
          <a:prstGeom prst="rect">
            <a:avLst/>
          </a:prstGeom>
          <a:noFill/>
          <a:ln/>
        </p:spPr>
        <p:txBody>
          <a:bodyPr wrap="square" lIns="0" tIns="0" rIns="0" bIns="0" rtlCol="0" anchor="ctr"/>
          <a:lstStyle/>
          <a:p>
            <a:pPr marL="0" indent="0" algn="ctr">
              <a:buNone/>
            </a:pPr>
            <a:r>
              <a:rPr lang="en-US" sz="2800" dirty="0">
                <a:solidFill>
                  <a:srgbClr val="DDD8CB"/>
                </a:solidFill>
                <a:latin typeface="Calibri" pitchFamily="34" charset="0"/>
                <a:ea typeface="Calibri" pitchFamily="34" charset="-122"/>
                <a:cs typeface="Calibri" pitchFamily="34" charset="-120"/>
              </a:rPr>
              <a:t>›</a:t>
            </a:r>
            <a:endParaRPr lang="en-US" sz="2800" dirty="0"/>
          </a:p>
        </p:txBody>
      </p:sp>
      <p:sp>
        <p:nvSpPr>
          <p:cNvPr id="12" name="Shape 9"/>
          <p:cNvSpPr/>
          <p:nvPr/>
        </p:nvSpPr>
        <p:spPr>
          <a:xfrm>
            <a:off x="2798064" y="1920240"/>
            <a:ext cx="2103120" cy="3017520"/>
          </a:xfrm>
          <a:prstGeom prst="roundRect">
            <a:avLst>
              <a:gd name="adj" fmla="val 3478"/>
            </a:avLst>
          </a:prstGeom>
          <a:solidFill>
            <a:srgbClr val="FFFFFF"/>
          </a:solidFill>
          <a:ln w="9525">
            <a:solidFill>
              <a:srgbClr val="DDD8CB"/>
            </a:solidFill>
            <a:prstDash val="solid"/>
          </a:ln>
        </p:spPr>
        <p:txBody>
          <a:bodyPr/>
          <a:lstStyle/>
          <a:p>
            <a:endParaRPr lang="en-GB"/>
          </a:p>
        </p:txBody>
      </p:sp>
      <p:sp>
        <p:nvSpPr>
          <p:cNvPr id="13" name="Shape 10"/>
          <p:cNvSpPr/>
          <p:nvPr/>
        </p:nvSpPr>
        <p:spPr>
          <a:xfrm>
            <a:off x="3026664" y="2103120"/>
            <a:ext cx="384048" cy="384048"/>
          </a:xfrm>
          <a:prstGeom prst="ellipse">
            <a:avLst/>
          </a:prstGeom>
          <a:solidFill>
            <a:srgbClr val="2A4530"/>
          </a:solidFill>
          <a:ln w="12700">
            <a:solidFill>
              <a:srgbClr val="2A4530"/>
            </a:solidFill>
            <a:prstDash val="solid"/>
          </a:ln>
        </p:spPr>
        <p:txBody>
          <a:bodyPr/>
          <a:lstStyle/>
          <a:p>
            <a:endParaRPr lang="en-GB"/>
          </a:p>
        </p:txBody>
      </p:sp>
      <p:sp>
        <p:nvSpPr>
          <p:cNvPr id="14" name="Text 11"/>
          <p:cNvSpPr/>
          <p:nvPr/>
        </p:nvSpPr>
        <p:spPr>
          <a:xfrm>
            <a:off x="3026664" y="21031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p:nvPr/>
        </p:nvSpPr>
        <p:spPr>
          <a:xfrm>
            <a:off x="3026664" y="2606040"/>
            <a:ext cx="1691640" cy="640080"/>
          </a:xfrm>
          <a:prstGeom prst="rect">
            <a:avLst/>
          </a:prstGeom>
          <a:noFill/>
          <a:ln/>
        </p:spPr>
        <p:txBody>
          <a:bodyPr wrap="square" lIns="0" tIns="0" rIns="0" bIns="0" rtlCol="0" anchor="t"/>
          <a:lstStyle/>
          <a:p>
            <a:pPr marL="0" indent="0">
              <a:buNone/>
            </a:pPr>
            <a:r>
              <a:rPr lang="en-US" sz="1350" b="1" dirty="0">
                <a:solidFill>
                  <a:srgbClr val="201C17"/>
                </a:solidFill>
                <a:latin typeface="Calibri" pitchFamily="34" charset="0"/>
                <a:ea typeface="Calibri" pitchFamily="34" charset="-122"/>
                <a:cs typeface="Calibri" pitchFamily="34" charset="-120"/>
              </a:rPr>
              <a:t>Builds and banks proof</a:t>
            </a:r>
            <a:endParaRPr lang="en-US" sz="1350" dirty="0"/>
          </a:p>
        </p:txBody>
      </p:sp>
      <p:sp>
        <p:nvSpPr>
          <p:cNvPr id="16" name="Text 13"/>
          <p:cNvSpPr/>
          <p:nvPr/>
        </p:nvSpPr>
        <p:spPr>
          <a:xfrm>
            <a:off x="3026664" y="3291840"/>
            <a:ext cx="1691640" cy="1554480"/>
          </a:xfrm>
          <a:prstGeom prst="rect">
            <a:avLst/>
          </a:prstGeom>
          <a:noFill/>
          <a:ln/>
        </p:spPr>
        <p:txBody>
          <a:bodyPr wrap="square" lIns="0" tIns="0" rIns="0" bIns="0" rtlCol="0" anchor="t"/>
          <a:lstStyle/>
          <a:p>
            <a:pPr marL="0" indent="0">
              <a:buNone/>
            </a:pPr>
            <a:r>
              <a:rPr lang="en-US" sz="1150" dirty="0">
                <a:solidFill>
                  <a:srgbClr val="63655F"/>
                </a:solidFill>
                <a:latin typeface="Calibri" pitchFamily="34" charset="0"/>
                <a:ea typeface="Calibri" pitchFamily="34" charset="-122"/>
                <a:cs typeface="Calibri" pitchFamily="34" charset="-120"/>
              </a:rPr>
              <a:t>A project in every lesson; the record shows what was built and how current it is.</a:t>
            </a:r>
            <a:endParaRPr lang="en-US" sz="1150" dirty="0"/>
          </a:p>
        </p:txBody>
      </p:sp>
      <p:sp>
        <p:nvSpPr>
          <p:cNvPr id="17" name="Text 14"/>
          <p:cNvSpPr/>
          <p:nvPr/>
        </p:nvSpPr>
        <p:spPr>
          <a:xfrm>
            <a:off x="4873752" y="3108960"/>
            <a:ext cx="228600" cy="457200"/>
          </a:xfrm>
          <a:prstGeom prst="rect">
            <a:avLst/>
          </a:prstGeom>
          <a:noFill/>
          <a:ln/>
        </p:spPr>
        <p:txBody>
          <a:bodyPr wrap="square" lIns="0" tIns="0" rIns="0" bIns="0" rtlCol="0" anchor="ctr"/>
          <a:lstStyle/>
          <a:p>
            <a:pPr marL="0" indent="0" algn="ctr">
              <a:buNone/>
            </a:pPr>
            <a:r>
              <a:rPr lang="en-US" sz="2800" dirty="0">
                <a:solidFill>
                  <a:srgbClr val="DDD8CB"/>
                </a:solidFill>
                <a:latin typeface="Calibri" pitchFamily="34" charset="0"/>
                <a:ea typeface="Calibri" pitchFamily="34" charset="-122"/>
                <a:cs typeface="Calibri" pitchFamily="34" charset="-120"/>
              </a:rPr>
              <a:t>›</a:t>
            </a:r>
            <a:endParaRPr lang="en-US" sz="2800" dirty="0"/>
          </a:p>
        </p:txBody>
      </p:sp>
      <p:sp>
        <p:nvSpPr>
          <p:cNvPr id="18" name="Shape 15"/>
          <p:cNvSpPr/>
          <p:nvPr/>
        </p:nvSpPr>
        <p:spPr>
          <a:xfrm>
            <a:off x="5047488" y="1920240"/>
            <a:ext cx="2103120" cy="3017520"/>
          </a:xfrm>
          <a:prstGeom prst="roundRect">
            <a:avLst>
              <a:gd name="adj" fmla="val 3478"/>
            </a:avLst>
          </a:prstGeom>
          <a:solidFill>
            <a:srgbClr val="FFFFFF"/>
          </a:solidFill>
          <a:ln w="9525">
            <a:solidFill>
              <a:srgbClr val="DDD8CB"/>
            </a:solidFill>
            <a:prstDash val="solid"/>
          </a:ln>
        </p:spPr>
        <p:txBody>
          <a:bodyPr/>
          <a:lstStyle/>
          <a:p>
            <a:endParaRPr lang="en-GB"/>
          </a:p>
        </p:txBody>
      </p:sp>
      <p:sp>
        <p:nvSpPr>
          <p:cNvPr id="19" name="Shape 16"/>
          <p:cNvSpPr/>
          <p:nvPr/>
        </p:nvSpPr>
        <p:spPr>
          <a:xfrm>
            <a:off x="5276088" y="2103120"/>
            <a:ext cx="384048" cy="384048"/>
          </a:xfrm>
          <a:prstGeom prst="ellipse">
            <a:avLst/>
          </a:prstGeom>
          <a:solidFill>
            <a:srgbClr val="C08A36"/>
          </a:solidFill>
          <a:ln w="12700">
            <a:solidFill>
              <a:srgbClr val="C08A36"/>
            </a:solidFill>
            <a:prstDash val="solid"/>
          </a:ln>
        </p:spPr>
        <p:txBody>
          <a:bodyPr/>
          <a:lstStyle/>
          <a:p>
            <a:endParaRPr lang="en-GB"/>
          </a:p>
        </p:txBody>
      </p:sp>
      <p:sp>
        <p:nvSpPr>
          <p:cNvPr id="20" name="Text 17"/>
          <p:cNvSpPr/>
          <p:nvPr/>
        </p:nvSpPr>
        <p:spPr>
          <a:xfrm>
            <a:off x="5276088" y="21031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p:nvPr/>
        </p:nvSpPr>
        <p:spPr>
          <a:xfrm>
            <a:off x="5276088" y="2606040"/>
            <a:ext cx="1691640" cy="640080"/>
          </a:xfrm>
          <a:prstGeom prst="rect">
            <a:avLst/>
          </a:prstGeom>
          <a:noFill/>
          <a:ln/>
        </p:spPr>
        <p:txBody>
          <a:bodyPr wrap="square" lIns="0" tIns="0" rIns="0" bIns="0" rtlCol="0" anchor="t"/>
          <a:lstStyle/>
          <a:p>
            <a:pPr marL="0" indent="0">
              <a:buNone/>
            </a:pPr>
            <a:r>
              <a:rPr lang="en-US" sz="1350" b="1" dirty="0">
                <a:solidFill>
                  <a:srgbClr val="201C17"/>
                </a:solidFill>
                <a:latin typeface="Calibri" pitchFamily="34" charset="0"/>
                <a:ea typeface="Calibri" pitchFamily="34" charset="-122"/>
                <a:cs typeface="Calibri" pitchFamily="34" charset="-120"/>
              </a:rPr>
              <a:t>Baseline report to the tutor</a:t>
            </a:r>
            <a:endParaRPr lang="en-US" sz="1350" dirty="0"/>
          </a:p>
        </p:txBody>
      </p:sp>
      <p:sp>
        <p:nvSpPr>
          <p:cNvPr id="22" name="Text 19"/>
          <p:cNvSpPr/>
          <p:nvPr/>
        </p:nvSpPr>
        <p:spPr>
          <a:xfrm>
            <a:off x="5276088" y="3291840"/>
            <a:ext cx="1691640" cy="1554480"/>
          </a:xfrm>
          <a:prstGeom prst="rect">
            <a:avLst/>
          </a:prstGeom>
          <a:noFill/>
          <a:ln/>
        </p:spPr>
        <p:txBody>
          <a:bodyPr wrap="square" lIns="0" tIns="0" rIns="0" bIns="0" rtlCol="0" anchor="t"/>
          <a:lstStyle/>
          <a:p>
            <a:pPr marL="0" indent="0">
              <a:buNone/>
            </a:pPr>
            <a:r>
              <a:rPr lang="en-US" sz="1150" dirty="0">
                <a:solidFill>
                  <a:srgbClr val="63655F"/>
                </a:solidFill>
                <a:latin typeface="Calibri" pitchFamily="34" charset="0"/>
                <a:ea typeface="Calibri" pitchFamily="34" charset="-122"/>
                <a:cs typeface="Calibri" pitchFamily="34" charset="-120"/>
              </a:rPr>
              <a:t>Before a CIPD virtual-classroom or specialist course, the cohort's level is known. No more mixed rooms.</a:t>
            </a:r>
            <a:endParaRPr lang="en-US" sz="1150" dirty="0"/>
          </a:p>
        </p:txBody>
      </p:sp>
      <p:sp>
        <p:nvSpPr>
          <p:cNvPr id="23" name="Text 20"/>
          <p:cNvSpPr/>
          <p:nvPr/>
        </p:nvSpPr>
        <p:spPr>
          <a:xfrm>
            <a:off x="7123176" y="3108960"/>
            <a:ext cx="228600" cy="457200"/>
          </a:xfrm>
          <a:prstGeom prst="rect">
            <a:avLst/>
          </a:prstGeom>
          <a:noFill/>
          <a:ln/>
        </p:spPr>
        <p:txBody>
          <a:bodyPr wrap="square" lIns="0" tIns="0" rIns="0" bIns="0" rtlCol="0" anchor="ctr"/>
          <a:lstStyle/>
          <a:p>
            <a:pPr marL="0" indent="0" algn="ctr">
              <a:buNone/>
            </a:pPr>
            <a:r>
              <a:rPr lang="en-US" sz="2800" dirty="0">
                <a:solidFill>
                  <a:srgbClr val="DDD8CB"/>
                </a:solidFill>
                <a:latin typeface="Calibri" pitchFamily="34" charset="0"/>
                <a:ea typeface="Calibri" pitchFamily="34" charset="-122"/>
                <a:cs typeface="Calibri" pitchFamily="34" charset="-120"/>
              </a:rPr>
              <a:t>›</a:t>
            </a:r>
            <a:endParaRPr lang="en-US" sz="2800" dirty="0"/>
          </a:p>
        </p:txBody>
      </p:sp>
      <p:sp>
        <p:nvSpPr>
          <p:cNvPr id="24" name="Shape 21"/>
          <p:cNvSpPr/>
          <p:nvPr/>
        </p:nvSpPr>
        <p:spPr>
          <a:xfrm>
            <a:off x="7296912" y="1920240"/>
            <a:ext cx="2103120" cy="3017520"/>
          </a:xfrm>
          <a:prstGeom prst="roundRect">
            <a:avLst>
              <a:gd name="adj" fmla="val 3478"/>
            </a:avLst>
          </a:prstGeom>
          <a:solidFill>
            <a:srgbClr val="FAF6EF"/>
          </a:solidFill>
          <a:ln w="9525">
            <a:solidFill>
              <a:srgbClr val="DDD8CB"/>
            </a:solidFill>
            <a:prstDash val="solid"/>
          </a:ln>
        </p:spPr>
        <p:txBody>
          <a:bodyPr/>
          <a:lstStyle/>
          <a:p>
            <a:endParaRPr lang="en-GB"/>
          </a:p>
        </p:txBody>
      </p:sp>
      <p:sp>
        <p:nvSpPr>
          <p:cNvPr id="25" name="Shape 22"/>
          <p:cNvSpPr/>
          <p:nvPr/>
        </p:nvSpPr>
        <p:spPr>
          <a:xfrm>
            <a:off x="7525512" y="2103120"/>
            <a:ext cx="384048" cy="384048"/>
          </a:xfrm>
          <a:prstGeom prst="ellipse">
            <a:avLst/>
          </a:prstGeom>
          <a:solidFill>
            <a:srgbClr val="A94C2E"/>
          </a:solidFill>
          <a:ln w="12700">
            <a:solidFill>
              <a:srgbClr val="A94C2E"/>
            </a:solidFill>
            <a:prstDash val="solid"/>
          </a:ln>
        </p:spPr>
        <p:txBody>
          <a:bodyPr/>
          <a:lstStyle/>
          <a:p>
            <a:endParaRPr lang="en-GB"/>
          </a:p>
        </p:txBody>
      </p:sp>
      <p:sp>
        <p:nvSpPr>
          <p:cNvPr id="26" name="Text 23"/>
          <p:cNvSpPr/>
          <p:nvPr/>
        </p:nvSpPr>
        <p:spPr>
          <a:xfrm>
            <a:off x="7525512" y="21031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4"/>
          <p:cNvSpPr/>
          <p:nvPr/>
        </p:nvSpPr>
        <p:spPr>
          <a:xfrm>
            <a:off x="7525512" y="2606040"/>
            <a:ext cx="1691640" cy="640080"/>
          </a:xfrm>
          <a:prstGeom prst="rect">
            <a:avLst/>
          </a:prstGeom>
          <a:noFill/>
          <a:ln/>
        </p:spPr>
        <p:txBody>
          <a:bodyPr wrap="square" lIns="0" tIns="0" rIns="0" bIns="0" rtlCol="0" anchor="t"/>
          <a:lstStyle/>
          <a:p>
            <a:pPr marL="0" indent="0">
              <a:buNone/>
            </a:pPr>
            <a:r>
              <a:rPr lang="en-US" sz="1350" b="1" dirty="0">
                <a:solidFill>
                  <a:srgbClr val="201C17"/>
                </a:solidFill>
                <a:latin typeface="Calibri" pitchFamily="34" charset="0"/>
                <a:ea typeface="Calibri" pitchFamily="34" charset="-122"/>
                <a:cs typeface="Calibri" pitchFamily="34" charset="-120"/>
              </a:rPr>
              <a:t>Specialist and leadership courses</a:t>
            </a:r>
            <a:endParaRPr lang="en-US" sz="1350" dirty="0"/>
          </a:p>
        </p:txBody>
      </p:sp>
      <p:sp>
        <p:nvSpPr>
          <p:cNvPr id="28" name="Text 25"/>
          <p:cNvSpPr/>
          <p:nvPr/>
        </p:nvSpPr>
        <p:spPr>
          <a:xfrm>
            <a:off x="7525512" y="3291840"/>
            <a:ext cx="1691640" cy="1554480"/>
          </a:xfrm>
          <a:prstGeom prst="rect">
            <a:avLst/>
          </a:prstGeom>
          <a:noFill/>
          <a:ln/>
        </p:spPr>
        <p:txBody>
          <a:bodyPr wrap="square" lIns="0" tIns="0" rIns="0" bIns="0" rtlCol="0" anchor="t"/>
          <a:lstStyle/>
          <a:p>
            <a:pPr marL="0" indent="0">
              <a:buNone/>
            </a:pPr>
            <a:r>
              <a:rPr lang="en-US" sz="1150" dirty="0">
                <a:solidFill>
                  <a:srgbClr val="63655F"/>
                </a:solidFill>
                <a:latin typeface="Calibri" pitchFamily="34" charset="0"/>
                <a:ea typeface="Calibri" pitchFamily="34" charset="-122"/>
                <a:cs typeface="Calibri" pitchFamily="34" charset="-120"/>
              </a:rPr>
              <a:t>CIPD's 14 products and partner courses build on the foundation instead of re-teaching it.</a:t>
            </a:r>
            <a:endParaRPr lang="en-US" sz="1150" dirty="0"/>
          </a:p>
        </p:txBody>
      </p:sp>
      <p:sp>
        <p:nvSpPr>
          <p:cNvPr id="29" name="Text 26"/>
          <p:cNvSpPr/>
          <p:nvPr/>
        </p:nvSpPr>
        <p:spPr>
          <a:xfrm>
            <a:off x="9372600" y="3108960"/>
            <a:ext cx="228600" cy="457200"/>
          </a:xfrm>
          <a:prstGeom prst="rect">
            <a:avLst/>
          </a:prstGeom>
          <a:noFill/>
          <a:ln/>
        </p:spPr>
        <p:txBody>
          <a:bodyPr wrap="square" lIns="0" tIns="0" rIns="0" bIns="0" rtlCol="0" anchor="ctr"/>
          <a:lstStyle/>
          <a:p>
            <a:pPr marL="0" indent="0" algn="ctr">
              <a:buNone/>
            </a:pPr>
            <a:r>
              <a:rPr lang="en-US" sz="2800" dirty="0">
                <a:solidFill>
                  <a:srgbClr val="DDD8CB"/>
                </a:solidFill>
                <a:latin typeface="Calibri" pitchFamily="34" charset="0"/>
                <a:ea typeface="Calibri" pitchFamily="34" charset="-122"/>
                <a:cs typeface="Calibri" pitchFamily="34" charset="-120"/>
              </a:rPr>
              <a:t>›</a:t>
            </a:r>
            <a:endParaRPr lang="en-US" sz="2800" dirty="0"/>
          </a:p>
        </p:txBody>
      </p:sp>
      <p:sp>
        <p:nvSpPr>
          <p:cNvPr id="30" name="Shape 27"/>
          <p:cNvSpPr/>
          <p:nvPr/>
        </p:nvSpPr>
        <p:spPr>
          <a:xfrm>
            <a:off x="9546336" y="1920240"/>
            <a:ext cx="2103120" cy="3017520"/>
          </a:xfrm>
          <a:prstGeom prst="roundRect">
            <a:avLst>
              <a:gd name="adj" fmla="val 3478"/>
            </a:avLst>
          </a:prstGeom>
          <a:solidFill>
            <a:srgbClr val="FFFFFF"/>
          </a:solidFill>
          <a:ln w="9525">
            <a:solidFill>
              <a:srgbClr val="DDD8CB"/>
            </a:solidFill>
            <a:prstDash val="solid"/>
          </a:ln>
        </p:spPr>
        <p:txBody>
          <a:bodyPr/>
          <a:lstStyle/>
          <a:p>
            <a:endParaRPr lang="en-GB"/>
          </a:p>
        </p:txBody>
      </p:sp>
      <p:sp>
        <p:nvSpPr>
          <p:cNvPr id="31" name="Shape 28"/>
          <p:cNvSpPr/>
          <p:nvPr/>
        </p:nvSpPr>
        <p:spPr>
          <a:xfrm>
            <a:off x="9774936" y="2103120"/>
            <a:ext cx="384048" cy="384048"/>
          </a:xfrm>
          <a:prstGeom prst="ellipse">
            <a:avLst/>
          </a:prstGeom>
          <a:solidFill>
            <a:srgbClr val="2C4A47"/>
          </a:solidFill>
          <a:ln w="12700">
            <a:solidFill>
              <a:srgbClr val="2C4A47"/>
            </a:solidFill>
            <a:prstDash val="solid"/>
          </a:ln>
        </p:spPr>
        <p:txBody>
          <a:bodyPr/>
          <a:lstStyle/>
          <a:p>
            <a:endParaRPr lang="en-GB"/>
          </a:p>
        </p:txBody>
      </p:sp>
      <p:sp>
        <p:nvSpPr>
          <p:cNvPr id="32" name="Text 29"/>
          <p:cNvSpPr/>
          <p:nvPr/>
        </p:nvSpPr>
        <p:spPr>
          <a:xfrm>
            <a:off x="9774936" y="21031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3" name="Text 30"/>
          <p:cNvSpPr/>
          <p:nvPr/>
        </p:nvSpPr>
        <p:spPr>
          <a:xfrm>
            <a:off x="9774936" y="2606040"/>
            <a:ext cx="1691640" cy="640080"/>
          </a:xfrm>
          <a:prstGeom prst="rect">
            <a:avLst/>
          </a:prstGeom>
          <a:noFill/>
          <a:ln/>
        </p:spPr>
        <p:txBody>
          <a:bodyPr wrap="square" lIns="0" tIns="0" rIns="0" bIns="0" rtlCol="0" anchor="t"/>
          <a:lstStyle/>
          <a:p>
            <a:pPr marL="0" indent="0">
              <a:buNone/>
            </a:pPr>
            <a:r>
              <a:rPr lang="en-US" sz="1350" b="1" dirty="0">
                <a:solidFill>
                  <a:srgbClr val="201C17"/>
                </a:solidFill>
                <a:latin typeface="Calibri" pitchFamily="34" charset="0"/>
                <a:ea typeface="Calibri" pitchFamily="34" charset="-122"/>
                <a:cs typeface="Calibri" pitchFamily="34" charset="-120"/>
              </a:rPr>
              <a:t>Stays current</a:t>
            </a:r>
            <a:endParaRPr lang="en-US" sz="1350" dirty="0"/>
          </a:p>
        </p:txBody>
      </p:sp>
      <p:sp>
        <p:nvSpPr>
          <p:cNvPr id="34" name="Text 31"/>
          <p:cNvSpPr/>
          <p:nvPr/>
        </p:nvSpPr>
        <p:spPr>
          <a:xfrm>
            <a:off x="9774936" y="3291840"/>
            <a:ext cx="1691640" cy="1554480"/>
          </a:xfrm>
          <a:prstGeom prst="rect">
            <a:avLst/>
          </a:prstGeom>
          <a:noFill/>
          <a:ln/>
        </p:spPr>
        <p:txBody>
          <a:bodyPr wrap="square" lIns="0" tIns="0" rIns="0" bIns="0" rtlCol="0" anchor="t"/>
          <a:lstStyle/>
          <a:p>
            <a:pPr marL="0" indent="0">
              <a:buNone/>
            </a:pPr>
            <a:r>
              <a:rPr lang="en-US" sz="1150" dirty="0">
                <a:solidFill>
                  <a:srgbClr val="63655F"/>
                </a:solidFill>
                <a:latin typeface="Calibri" pitchFamily="34" charset="0"/>
                <a:ea typeface="Calibri" pitchFamily="34" charset="-122"/>
                <a:cs typeface="Calibri" pitchFamily="34" charset="-120"/>
              </a:rPr>
              <a:t>£7.50 a month keeps the updates coming; the record decays if they stop. Currency becomes visible.</a:t>
            </a:r>
            <a:endParaRPr lang="en-US" sz="1150" dirty="0"/>
          </a:p>
        </p:txBody>
      </p:sp>
      <p:sp>
        <p:nvSpPr>
          <p:cNvPr id="35" name="Text 32"/>
          <p:cNvSpPr/>
          <p:nvPr/>
        </p:nvSpPr>
        <p:spPr>
          <a:xfrm>
            <a:off x="548640" y="5212080"/>
            <a:ext cx="11091672" cy="868680"/>
          </a:xfrm>
          <a:prstGeom prst="rect">
            <a:avLst/>
          </a:prstGeom>
          <a:noFill/>
          <a:ln/>
        </p:spPr>
        <p:txBody>
          <a:bodyPr wrap="square" lIns="0" tIns="0" rIns="0" bIns="0" rtlCol="0" anchor="t"/>
          <a:lstStyle/>
          <a:p>
            <a:pPr marL="0" indent="0">
              <a:buNone/>
            </a:pPr>
            <a:r>
              <a:rPr lang="en-US" sz="1250" b="1" dirty="0">
                <a:solidFill>
                  <a:srgbClr val="2C4A47"/>
                </a:solidFill>
                <a:latin typeface="Calibri" pitchFamily="34" charset="0"/>
                <a:ea typeface="Calibri" pitchFamily="34" charset="-122"/>
                <a:cs typeface="Calibri" pitchFamily="34" charset="-120"/>
              </a:rPr>
              <a:t>Why this works for CIPD: </a:t>
            </a:r>
            <a:r>
              <a:rPr lang="en-US" sz="1250" dirty="0">
                <a:solidFill>
                  <a:srgbClr val="201C17"/>
                </a:solidFill>
                <a:latin typeface="Calibri" pitchFamily="34" charset="0"/>
                <a:ea typeface="Calibri" pitchFamily="34" charset="-122"/>
                <a:cs typeface="Calibri" pitchFamily="34" charset="-120"/>
              </a:rPr>
              <a:t>CIPD keeps its market (classroom, face-to-face, associates who stay current) and plugs the two gaps Steve named, the baseline and responsible use, without building and maintaining self-directed content. Why it works for GWTH: distribution to the profession that most needs it, and a trusted name on the door.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marL="0" indent="0" algn="r">
              <a:buNone/>
            </a:pPr>
            <a:r>
              <a:rPr lang="en-US" sz="1000" dirty="0">
                <a:solidFill>
                  <a:srgbClr val="63655F"/>
                </a:solidFill>
                <a:latin typeface="Calibri" pitchFamily="34" charset="0"/>
                <a:ea typeface="Calibri" pitchFamily="34" charset="-122"/>
                <a:cs typeface="Calibri" pitchFamily="34" charset="-120"/>
              </a:rPr>
              <a:t>9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marL="0" indent="0">
              <a:buNone/>
            </a:pPr>
            <a:r>
              <a:rPr lang="en-US" sz="3000" b="1" dirty="0">
                <a:solidFill>
                  <a:srgbClr val="201C17"/>
                </a:solidFill>
                <a:latin typeface="Cambria" pitchFamily="34" charset="0"/>
                <a:ea typeface="Cambria" pitchFamily="34" charset="-122"/>
                <a:cs typeface="Cambria" pitchFamily="34" charset="-120"/>
              </a:rPr>
              <a:t>What I would value from you</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marL="0" indent="0">
              <a:buNone/>
            </a:pPr>
            <a:r>
              <a:rPr lang="en-US" sz="1500" i="1" dirty="0">
                <a:solidFill>
                  <a:srgbClr val="63655F"/>
                </a:solidFill>
                <a:latin typeface="Calibri" pitchFamily="34" charset="0"/>
                <a:ea typeface="Calibri" pitchFamily="34" charset="-122"/>
                <a:cs typeface="Calibri" pitchFamily="34" charset="-120"/>
              </a:rPr>
              <a:t>Ben said you know the hub well and are well connected in skills policy. Four things I would like to ask.</a:t>
            </a:r>
            <a:endParaRPr lang="en-US" sz="1500" dirty="0"/>
          </a:p>
        </p:txBody>
      </p:sp>
      <p:sp>
        <p:nvSpPr>
          <p:cNvPr id="6" name="Shape 3"/>
          <p:cNvSpPr/>
          <p:nvPr/>
        </p:nvSpPr>
        <p:spPr>
          <a:xfrm>
            <a:off x="548640" y="1737360"/>
            <a:ext cx="5440680" cy="1920240"/>
          </a:xfrm>
          <a:prstGeom prst="roundRect">
            <a:avLst>
              <a:gd name="adj" fmla="val 3810"/>
            </a:avLst>
          </a:prstGeom>
          <a:solidFill>
            <a:srgbClr val="FAF6EF"/>
          </a:solidFill>
          <a:ln w="9525">
            <a:solidFill>
              <a:srgbClr val="DDD8CB"/>
            </a:solidFill>
            <a:prstDash val="solid"/>
          </a:ln>
        </p:spPr>
        <p:txBody>
          <a:bodyPr/>
          <a:lstStyle/>
          <a:p>
            <a:endParaRPr lang="en-GB"/>
          </a:p>
        </p:txBody>
      </p:sp>
      <p:sp>
        <p:nvSpPr>
          <p:cNvPr id="7" name="Shape 4"/>
          <p:cNvSpPr/>
          <p:nvPr/>
        </p:nvSpPr>
        <p:spPr>
          <a:xfrm>
            <a:off x="822960" y="2011680"/>
            <a:ext cx="384048" cy="384048"/>
          </a:xfrm>
          <a:prstGeom prst="ellipse">
            <a:avLst/>
          </a:prstGeom>
          <a:solidFill>
            <a:srgbClr val="2C4A47"/>
          </a:solidFill>
          <a:ln w="12700">
            <a:solidFill>
              <a:srgbClr val="2C4A47"/>
            </a:solidFill>
            <a:prstDash val="solid"/>
          </a:ln>
        </p:spPr>
        <p:txBody>
          <a:bodyPr/>
          <a:lstStyle/>
          <a:p>
            <a:endParaRPr lang="en-GB"/>
          </a:p>
        </p:txBody>
      </p:sp>
      <p:sp>
        <p:nvSpPr>
          <p:cNvPr id="8" name="Text 5"/>
          <p:cNvSpPr/>
          <p:nvPr/>
        </p:nvSpPr>
        <p:spPr>
          <a:xfrm>
            <a:off x="822960" y="20116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1371600" y="1993392"/>
            <a:ext cx="4389120" cy="411480"/>
          </a:xfrm>
          <a:prstGeom prst="rect">
            <a:avLst/>
          </a:prstGeom>
          <a:noFill/>
          <a:ln/>
        </p:spPr>
        <p:txBody>
          <a:bodyPr wrap="square" lIns="0" tIns="0" rIns="0" bIns="0" rtlCol="0" anchor="ctr"/>
          <a:lstStyle/>
          <a:p>
            <a:pPr marL="0" indent="0">
              <a:buNone/>
            </a:pPr>
            <a:r>
              <a:rPr lang="en-US" sz="1700" b="1" dirty="0">
                <a:solidFill>
                  <a:srgbClr val="201C17"/>
                </a:solidFill>
                <a:latin typeface="Cambria" pitchFamily="34" charset="0"/>
                <a:ea typeface="Cambria" pitchFamily="34" charset="-122"/>
                <a:cs typeface="Cambria" pitchFamily="34" charset="-120"/>
              </a:rPr>
              <a:t>An objective benchmark</a:t>
            </a:r>
            <a:endParaRPr lang="en-US" sz="1700" dirty="0"/>
          </a:p>
        </p:txBody>
      </p:sp>
      <p:sp>
        <p:nvSpPr>
          <p:cNvPr id="10" name="Text 7"/>
          <p:cNvSpPr/>
          <p:nvPr/>
        </p:nvSpPr>
        <p:spPr>
          <a:xfrm>
            <a:off x="1371600" y="2514600"/>
            <a:ext cx="4389120" cy="1005840"/>
          </a:xfrm>
          <a:prstGeom prst="rect">
            <a:avLst/>
          </a:prstGeom>
          <a:noFill/>
          <a:ln/>
        </p:spPr>
        <p:txBody>
          <a:bodyPr wrap="square" lIns="0" tIns="0" rIns="0" bIns="0" rtlCol="0" anchor="t"/>
          <a:lstStyle/>
          <a:p>
            <a:pPr marL="0" indent="0">
              <a:buNone/>
            </a:pPr>
            <a:r>
              <a:rPr lang="en-US" sz="1250" dirty="0">
                <a:solidFill>
                  <a:srgbClr val="63655F"/>
                </a:solidFill>
                <a:latin typeface="Calibri" pitchFamily="34" charset="0"/>
                <a:ea typeface="Calibri" pitchFamily="34" charset="-122"/>
                <a:cs typeface="Calibri" pitchFamily="34" charset="-120"/>
              </a:rPr>
              <a:t>Where does GWTH sit against the hub's courses, honestly? What is missing, what is wrong, what would you cut?</a:t>
            </a:r>
            <a:endParaRPr lang="en-US" sz="1250" dirty="0"/>
          </a:p>
        </p:txBody>
      </p:sp>
      <p:sp>
        <p:nvSpPr>
          <p:cNvPr id="11" name="Shape 8"/>
          <p:cNvSpPr/>
          <p:nvPr/>
        </p:nvSpPr>
        <p:spPr>
          <a:xfrm>
            <a:off x="6172200" y="1737360"/>
            <a:ext cx="5440680" cy="1920240"/>
          </a:xfrm>
          <a:prstGeom prst="roundRect">
            <a:avLst>
              <a:gd name="adj" fmla="val 3810"/>
            </a:avLst>
          </a:prstGeom>
          <a:solidFill>
            <a:srgbClr val="FFFFFF"/>
          </a:solidFill>
          <a:ln w="9525">
            <a:solidFill>
              <a:srgbClr val="DDD8CB"/>
            </a:solidFill>
            <a:prstDash val="solid"/>
          </a:ln>
        </p:spPr>
        <p:txBody>
          <a:bodyPr/>
          <a:lstStyle/>
          <a:p>
            <a:endParaRPr lang="en-GB"/>
          </a:p>
        </p:txBody>
      </p:sp>
      <p:sp>
        <p:nvSpPr>
          <p:cNvPr id="12" name="Shape 9"/>
          <p:cNvSpPr/>
          <p:nvPr/>
        </p:nvSpPr>
        <p:spPr>
          <a:xfrm>
            <a:off x="6446520" y="2011680"/>
            <a:ext cx="384048" cy="384048"/>
          </a:xfrm>
          <a:prstGeom prst="ellipse">
            <a:avLst/>
          </a:prstGeom>
          <a:solidFill>
            <a:srgbClr val="2A4530"/>
          </a:solidFill>
          <a:ln w="12700">
            <a:solidFill>
              <a:srgbClr val="2A4530"/>
            </a:solidFill>
            <a:prstDash val="solid"/>
          </a:ln>
        </p:spPr>
        <p:txBody>
          <a:bodyPr/>
          <a:lstStyle/>
          <a:p>
            <a:endParaRPr lang="en-GB"/>
          </a:p>
        </p:txBody>
      </p:sp>
      <p:sp>
        <p:nvSpPr>
          <p:cNvPr id="13" name="Text 10"/>
          <p:cNvSpPr/>
          <p:nvPr/>
        </p:nvSpPr>
        <p:spPr>
          <a:xfrm>
            <a:off x="6446520" y="20116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6995160" y="1993392"/>
            <a:ext cx="4389120" cy="411480"/>
          </a:xfrm>
          <a:prstGeom prst="rect">
            <a:avLst/>
          </a:prstGeom>
          <a:noFill/>
          <a:ln/>
        </p:spPr>
        <p:txBody>
          <a:bodyPr wrap="square" lIns="0" tIns="0" rIns="0" bIns="0" rtlCol="0" anchor="ctr"/>
          <a:lstStyle/>
          <a:p>
            <a:pPr marL="0" indent="0">
              <a:buNone/>
            </a:pPr>
            <a:r>
              <a:rPr lang="en-US" sz="1700" b="1" dirty="0">
                <a:solidFill>
                  <a:srgbClr val="201C17"/>
                </a:solidFill>
                <a:latin typeface="Cambria" pitchFamily="34" charset="0"/>
                <a:ea typeface="Cambria" pitchFamily="34" charset="-122"/>
                <a:cs typeface="Cambria" pitchFamily="34" charset="-120"/>
              </a:rPr>
              <a:t>The route onto the hub</a:t>
            </a:r>
            <a:endParaRPr lang="en-US" sz="1700" dirty="0"/>
          </a:p>
        </p:txBody>
      </p:sp>
      <p:sp>
        <p:nvSpPr>
          <p:cNvPr id="15" name="Text 12"/>
          <p:cNvSpPr/>
          <p:nvPr/>
        </p:nvSpPr>
        <p:spPr>
          <a:xfrm>
            <a:off x="6995160" y="2514600"/>
            <a:ext cx="4389120" cy="1005840"/>
          </a:xfrm>
          <a:prstGeom prst="rect">
            <a:avLst/>
          </a:prstGeom>
          <a:noFill/>
          <a:ln/>
        </p:spPr>
        <p:txBody>
          <a:bodyPr wrap="square" lIns="0" tIns="0" rIns="0" bIns="0" rtlCol="0" anchor="t"/>
          <a:lstStyle/>
          <a:p>
            <a:pPr marL="0" indent="0">
              <a:buNone/>
            </a:pPr>
            <a:r>
              <a:rPr lang="en-US" sz="1250" dirty="0">
                <a:solidFill>
                  <a:srgbClr val="63655F"/>
                </a:solidFill>
                <a:latin typeface="Calibri" pitchFamily="34" charset="0"/>
                <a:ea typeface="Calibri" pitchFamily="34" charset="-122"/>
                <a:cs typeface="Calibri" pitchFamily="34" charset="-120"/>
              </a:rPr>
              <a:t>Who lists courses on the government AI skills hub, on what criteria, and is there room for a UK independent course?</a:t>
            </a:r>
            <a:endParaRPr lang="en-US" sz="1250" dirty="0"/>
          </a:p>
        </p:txBody>
      </p:sp>
      <p:sp>
        <p:nvSpPr>
          <p:cNvPr id="16" name="Shape 13"/>
          <p:cNvSpPr/>
          <p:nvPr/>
        </p:nvSpPr>
        <p:spPr>
          <a:xfrm>
            <a:off x="548640" y="3840480"/>
            <a:ext cx="5440680" cy="1920240"/>
          </a:xfrm>
          <a:prstGeom prst="roundRect">
            <a:avLst>
              <a:gd name="adj" fmla="val 3810"/>
            </a:avLst>
          </a:prstGeom>
          <a:solidFill>
            <a:srgbClr val="FFFFFF"/>
          </a:solidFill>
          <a:ln w="9525">
            <a:solidFill>
              <a:srgbClr val="DDD8CB"/>
            </a:solidFill>
            <a:prstDash val="solid"/>
          </a:ln>
        </p:spPr>
        <p:txBody>
          <a:bodyPr/>
          <a:lstStyle/>
          <a:p>
            <a:endParaRPr lang="en-GB"/>
          </a:p>
        </p:txBody>
      </p:sp>
      <p:sp>
        <p:nvSpPr>
          <p:cNvPr id="17" name="Shape 14"/>
          <p:cNvSpPr/>
          <p:nvPr/>
        </p:nvSpPr>
        <p:spPr>
          <a:xfrm>
            <a:off x="822960" y="4114800"/>
            <a:ext cx="384048" cy="384048"/>
          </a:xfrm>
          <a:prstGeom prst="ellipse">
            <a:avLst/>
          </a:prstGeom>
          <a:solidFill>
            <a:srgbClr val="C08A36"/>
          </a:solidFill>
          <a:ln w="12700">
            <a:solidFill>
              <a:srgbClr val="C08A36"/>
            </a:solidFill>
            <a:prstDash val="solid"/>
          </a:ln>
        </p:spPr>
        <p:txBody>
          <a:bodyPr/>
          <a:lstStyle/>
          <a:p>
            <a:endParaRPr lang="en-GB"/>
          </a:p>
        </p:txBody>
      </p:sp>
      <p:sp>
        <p:nvSpPr>
          <p:cNvPr id="18" name="Text 15"/>
          <p:cNvSpPr/>
          <p:nvPr/>
        </p:nvSpPr>
        <p:spPr>
          <a:xfrm>
            <a:off x="822960" y="4114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1371600" y="4096512"/>
            <a:ext cx="4389120" cy="411480"/>
          </a:xfrm>
          <a:prstGeom prst="rect">
            <a:avLst/>
          </a:prstGeom>
          <a:noFill/>
          <a:ln/>
        </p:spPr>
        <p:txBody>
          <a:bodyPr wrap="square" lIns="0" tIns="0" rIns="0" bIns="0" rtlCol="0" anchor="ctr"/>
          <a:lstStyle/>
          <a:p>
            <a:pPr marL="0" indent="0">
              <a:buNone/>
            </a:pPr>
            <a:r>
              <a:rPr lang="en-US" sz="1700" b="1" dirty="0">
                <a:solidFill>
                  <a:srgbClr val="201C17"/>
                </a:solidFill>
                <a:latin typeface="Cambria" pitchFamily="34" charset="0"/>
                <a:ea typeface="Cambria" pitchFamily="34" charset="-122"/>
                <a:cs typeface="Cambria" pitchFamily="34" charset="-120"/>
              </a:rPr>
              <a:t>Policy contacts</a:t>
            </a:r>
            <a:endParaRPr lang="en-US" sz="1700" dirty="0"/>
          </a:p>
        </p:txBody>
      </p:sp>
      <p:sp>
        <p:nvSpPr>
          <p:cNvPr id="20" name="Text 17"/>
          <p:cNvSpPr/>
          <p:nvPr/>
        </p:nvSpPr>
        <p:spPr>
          <a:xfrm>
            <a:off x="1371600" y="4617720"/>
            <a:ext cx="4389120" cy="1005840"/>
          </a:xfrm>
          <a:prstGeom prst="rect">
            <a:avLst/>
          </a:prstGeom>
          <a:noFill/>
          <a:ln/>
        </p:spPr>
        <p:txBody>
          <a:bodyPr wrap="square" lIns="0" tIns="0" rIns="0" bIns="0" rtlCol="0" anchor="t"/>
          <a:lstStyle/>
          <a:p>
            <a:pPr marL="0" indent="0">
              <a:buNone/>
            </a:pPr>
            <a:r>
              <a:rPr lang="en-US" sz="1250" dirty="0">
                <a:solidFill>
                  <a:srgbClr val="63655F"/>
                </a:solidFill>
                <a:latin typeface="Calibri" pitchFamily="34" charset="0"/>
                <a:ea typeface="Calibri" pitchFamily="34" charset="-122"/>
                <a:cs typeface="Calibri" pitchFamily="34" charset="-120"/>
              </a:rPr>
              <a:t>Anyone in the skills-policy world who should see a UK, affordable, practical, continuously updated course, including around CIPD's AI adoption research.</a:t>
            </a:r>
            <a:endParaRPr lang="en-US" sz="1250" dirty="0"/>
          </a:p>
        </p:txBody>
      </p:sp>
      <p:sp>
        <p:nvSpPr>
          <p:cNvPr id="21" name="Shape 18"/>
          <p:cNvSpPr/>
          <p:nvPr/>
        </p:nvSpPr>
        <p:spPr>
          <a:xfrm>
            <a:off x="6172200" y="3840480"/>
            <a:ext cx="5440680" cy="1920240"/>
          </a:xfrm>
          <a:prstGeom prst="roundRect">
            <a:avLst>
              <a:gd name="adj" fmla="val 3810"/>
            </a:avLst>
          </a:prstGeom>
          <a:solidFill>
            <a:srgbClr val="FAF6EF"/>
          </a:solidFill>
          <a:ln w="9525">
            <a:solidFill>
              <a:srgbClr val="DDD8CB"/>
            </a:solidFill>
            <a:prstDash val="solid"/>
          </a:ln>
        </p:spPr>
        <p:txBody>
          <a:bodyPr/>
          <a:lstStyle/>
          <a:p>
            <a:endParaRPr lang="en-GB"/>
          </a:p>
        </p:txBody>
      </p:sp>
      <p:sp>
        <p:nvSpPr>
          <p:cNvPr id="22" name="Shape 19"/>
          <p:cNvSpPr/>
          <p:nvPr/>
        </p:nvSpPr>
        <p:spPr>
          <a:xfrm>
            <a:off x="6446520" y="4114800"/>
            <a:ext cx="384048" cy="384048"/>
          </a:xfrm>
          <a:prstGeom prst="ellipse">
            <a:avLst/>
          </a:prstGeom>
          <a:solidFill>
            <a:srgbClr val="A94C2E"/>
          </a:solidFill>
          <a:ln w="12700">
            <a:solidFill>
              <a:srgbClr val="A94C2E"/>
            </a:solidFill>
            <a:prstDash val="solid"/>
          </a:ln>
        </p:spPr>
        <p:txBody>
          <a:bodyPr/>
          <a:lstStyle/>
          <a:p>
            <a:endParaRPr lang="en-GB"/>
          </a:p>
        </p:txBody>
      </p:sp>
      <p:sp>
        <p:nvSpPr>
          <p:cNvPr id="23" name="Text 20"/>
          <p:cNvSpPr/>
          <p:nvPr/>
        </p:nvSpPr>
        <p:spPr>
          <a:xfrm>
            <a:off x="6446520" y="4114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p:nvPr/>
        </p:nvSpPr>
        <p:spPr>
          <a:xfrm>
            <a:off x="6995160" y="4096512"/>
            <a:ext cx="4389120" cy="411480"/>
          </a:xfrm>
          <a:prstGeom prst="rect">
            <a:avLst/>
          </a:prstGeom>
          <a:noFill/>
          <a:ln/>
        </p:spPr>
        <p:txBody>
          <a:bodyPr wrap="square" lIns="0" tIns="0" rIns="0" bIns="0" rtlCol="0" anchor="ctr"/>
          <a:lstStyle/>
          <a:p>
            <a:pPr marL="0" indent="0">
              <a:buNone/>
            </a:pPr>
            <a:r>
              <a:rPr lang="en-US" sz="1700" b="1" dirty="0">
                <a:solidFill>
                  <a:srgbClr val="201C17"/>
                </a:solidFill>
                <a:latin typeface="Cambria" pitchFamily="34" charset="0"/>
                <a:ea typeface="Cambria" pitchFamily="34" charset="-122"/>
                <a:cs typeface="Cambria" pitchFamily="34" charset="-120"/>
              </a:rPr>
              <a:t>A member-benefit view</a:t>
            </a:r>
            <a:endParaRPr lang="en-US" sz="1700" dirty="0"/>
          </a:p>
        </p:txBody>
      </p:sp>
      <p:sp>
        <p:nvSpPr>
          <p:cNvPr id="25" name="Text 22"/>
          <p:cNvSpPr/>
          <p:nvPr/>
        </p:nvSpPr>
        <p:spPr>
          <a:xfrm>
            <a:off x="6995160" y="4617720"/>
            <a:ext cx="4389120" cy="1005840"/>
          </a:xfrm>
          <a:prstGeom prst="rect">
            <a:avLst/>
          </a:prstGeom>
          <a:noFill/>
          <a:ln/>
        </p:spPr>
        <p:txBody>
          <a:bodyPr wrap="square" lIns="0" tIns="0" rIns="0" bIns="0" rtlCol="0" anchor="t"/>
          <a:lstStyle/>
          <a:p>
            <a:pPr marL="0" indent="0">
              <a:buNone/>
            </a:pPr>
            <a:r>
              <a:rPr lang="en-US" sz="1250" dirty="0">
                <a:solidFill>
                  <a:srgbClr val="63655F"/>
                </a:solidFill>
                <a:latin typeface="Calibri" pitchFamily="34" charset="0"/>
                <a:ea typeface="Calibri" pitchFamily="34" charset="-122"/>
                <a:cs typeface="Calibri" pitchFamily="34" charset="-120"/>
              </a:rPr>
              <a:t>If the CIPD edition were ready, what would the membership team need to see to consider it?</a:t>
            </a:r>
            <a:endParaRPr lang="en-US" sz="1250" dirty="0"/>
          </a:p>
        </p:txBody>
      </p:sp>
      <p:sp>
        <p:nvSpPr>
          <p:cNvPr id="26" name="Text 23"/>
          <p:cNvSpPr/>
          <p:nvPr/>
        </p:nvSpPr>
        <p:spPr>
          <a:xfrm>
            <a:off x="548640" y="5897880"/>
            <a:ext cx="11091672" cy="320040"/>
          </a:xfrm>
          <a:prstGeom prst="rect">
            <a:avLst/>
          </a:prstGeom>
          <a:noFill/>
          <a:ln/>
        </p:spPr>
        <p:txBody>
          <a:bodyPr wrap="square" lIns="0" tIns="0" rIns="0" bIns="0" rtlCol="0" anchor="ctr"/>
          <a:lstStyle/>
          <a:p>
            <a:pPr marL="0" indent="0">
              <a:buNone/>
            </a:pPr>
            <a:r>
              <a:rPr lang="en-US" sz="1200" i="1" dirty="0">
                <a:solidFill>
                  <a:srgbClr val="63655F"/>
                </a:solidFill>
                <a:latin typeface="Calibri" pitchFamily="34" charset="0"/>
                <a:ea typeface="Calibri" pitchFamily="34" charset="-122"/>
                <a:cs typeface="Calibri" pitchFamily="34" charset="-120"/>
              </a:rPr>
              <a:t>In return: beta access is free, and a full demo account under NDA is yours and Steve's to go through the whole syllabus.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4A4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marL="0" indent="0" algn="r">
              <a:buNone/>
            </a:pPr>
            <a:r>
              <a:rPr lang="en-US" sz="1000" dirty="0">
                <a:solidFill>
                  <a:srgbClr val="ECE8D2"/>
                </a:solidFill>
                <a:latin typeface="Calibri" pitchFamily="34" charset="0"/>
                <a:ea typeface="Calibri" pitchFamily="34" charset="-122"/>
                <a:cs typeface="Calibri" pitchFamily="34" charset="-120"/>
              </a:rPr>
              <a:t>10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marL="0" indent="0">
              <a:buNone/>
            </a:pPr>
            <a:r>
              <a:rPr lang="en-US" sz="3000" b="1" dirty="0">
                <a:solidFill>
                  <a:srgbClr val="FAF6EF"/>
                </a:solidFill>
                <a:latin typeface="Cambria" pitchFamily="34" charset="0"/>
                <a:ea typeface="Cambria" pitchFamily="34" charset="-122"/>
                <a:cs typeface="Cambria" pitchFamily="34" charset="-120"/>
              </a:rPr>
              <a:t>Possible Next steps</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marL="0" indent="0">
              <a:buNone/>
            </a:pPr>
            <a:r>
              <a:rPr lang="en-US" sz="1500" i="1" dirty="0">
                <a:solidFill>
                  <a:srgbClr val="ECE8D2"/>
                </a:solidFill>
                <a:latin typeface="Calibri" pitchFamily="34" charset="0"/>
                <a:ea typeface="Calibri" pitchFamily="34" charset="-122"/>
                <a:cs typeface="Calibri" pitchFamily="34" charset="-120"/>
              </a:rPr>
              <a:t>Fast and concrete. Nothing here needs a decision from CIPD today.</a:t>
            </a:r>
            <a:endParaRPr lang="en-US" sz="1500" dirty="0"/>
          </a:p>
        </p:txBody>
      </p:sp>
      <p:sp>
        <p:nvSpPr>
          <p:cNvPr id="6" name="Shape 3"/>
          <p:cNvSpPr/>
          <p:nvPr/>
        </p:nvSpPr>
        <p:spPr>
          <a:xfrm>
            <a:off x="548640" y="1737360"/>
            <a:ext cx="2377440" cy="777240"/>
          </a:xfrm>
          <a:prstGeom prst="roundRect">
            <a:avLst>
              <a:gd name="adj" fmla="val 9412"/>
            </a:avLst>
          </a:prstGeom>
          <a:solidFill>
            <a:srgbClr val="A94C2E"/>
          </a:solidFill>
          <a:ln w="12700">
            <a:solidFill>
              <a:srgbClr val="333333"/>
            </a:solidFill>
            <a:prstDash val="solid"/>
          </a:ln>
        </p:spPr>
        <p:txBody>
          <a:bodyPr/>
          <a:lstStyle/>
          <a:p>
            <a:endParaRPr lang="en-GB"/>
          </a:p>
        </p:txBody>
      </p:sp>
      <p:sp>
        <p:nvSpPr>
          <p:cNvPr id="7" name="Text 4"/>
          <p:cNvSpPr/>
          <p:nvPr/>
        </p:nvSpPr>
        <p:spPr>
          <a:xfrm>
            <a:off x="685800" y="1737360"/>
            <a:ext cx="2148840" cy="7772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Step 1</a:t>
            </a:r>
            <a:endParaRPr lang="en-US" sz="1400" dirty="0"/>
          </a:p>
        </p:txBody>
      </p:sp>
      <p:sp>
        <p:nvSpPr>
          <p:cNvPr id="8" name="Text 5"/>
          <p:cNvSpPr/>
          <p:nvPr/>
        </p:nvSpPr>
        <p:spPr>
          <a:xfrm>
            <a:off x="3154680" y="1737360"/>
            <a:ext cx="8412480" cy="777240"/>
          </a:xfrm>
          <a:prstGeom prst="rect">
            <a:avLst/>
          </a:prstGeom>
          <a:noFill/>
          <a:ln/>
        </p:spPr>
        <p:txBody>
          <a:bodyPr wrap="square" lIns="0" tIns="0" rIns="0" bIns="0" rtlCol="0" anchor="ctr"/>
          <a:lstStyle/>
          <a:p>
            <a:pPr marL="0" indent="0">
              <a:buNone/>
            </a:pPr>
            <a:r>
              <a:rPr lang="en-US" sz="1400" dirty="0">
                <a:solidFill>
                  <a:srgbClr val="FAF6EF"/>
                </a:solidFill>
                <a:latin typeface="Calibri" pitchFamily="34" charset="0"/>
                <a:ea typeface="Calibri" pitchFamily="34" charset="-122"/>
                <a:cs typeface="Calibri" pitchFamily="34" charset="-120"/>
              </a:rPr>
              <a:t>Build the CIPD-curated edition prototype: branding, an HR path, a senior-leader path, cohort dashboard mock, baseline report.</a:t>
            </a:r>
            <a:endParaRPr lang="en-US" sz="1400" dirty="0"/>
          </a:p>
        </p:txBody>
      </p:sp>
      <p:sp>
        <p:nvSpPr>
          <p:cNvPr id="9" name="Shape 6"/>
          <p:cNvSpPr/>
          <p:nvPr/>
        </p:nvSpPr>
        <p:spPr>
          <a:xfrm>
            <a:off x="548640" y="2697480"/>
            <a:ext cx="2377440" cy="777240"/>
          </a:xfrm>
          <a:prstGeom prst="roundRect">
            <a:avLst>
              <a:gd name="adj" fmla="val 9412"/>
            </a:avLst>
          </a:prstGeom>
          <a:solidFill>
            <a:srgbClr val="C08A36"/>
          </a:solidFill>
          <a:ln w="12700">
            <a:solidFill>
              <a:srgbClr val="333333"/>
            </a:solidFill>
            <a:prstDash val="solid"/>
          </a:ln>
        </p:spPr>
        <p:txBody>
          <a:bodyPr/>
          <a:lstStyle/>
          <a:p>
            <a:endParaRPr lang="en-GB"/>
          </a:p>
        </p:txBody>
      </p:sp>
      <p:sp>
        <p:nvSpPr>
          <p:cNvPr id="10" name="Text 7"/>
          <p:cNvSpPr/>
          <p:nvPr/>
        </p:nvSpPr>
        <p:spPr>
          <a:xfrm>
            <a:off x="685800" y="2697480"/>
            <a:ext cx="2148840" cy="7772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Step 2</a:t>
            </a:r>
            <a:endParaRPr lang="en-US" sz="1400" dirty="0"/>
          </a:p>
        </p:txBody>
      </p:sp>
      <p:sp>
        <p:nvSpPr>
          <p:cNvPr id="11" name="Text 8"/>
          <p:cNvSpPr/>
          <p:nvPr/>
        </p:nvSpPr>
        <p:spPr>
          <a:xfrm>
            <a:off x="3154680" y="2697480"/>
            <a:ext cx="8412480" cy="777240"/>
          </a:xfrm>
          <a:prstGeom prst="rect">
            <a:avLst/>
          </a:prstGeom>
          <a:noFill/>
          <a:ln/>
        </p:spPr>
        <p:txBody>
          <a:bodyPr wrap="square" lIns="0" tIns="0" rIns="0" bIns="0" rtlCol="0" anchor="ctr"/>
          <a:lstStyle/>
          <a:p>
            <a:pPr marL="0" indent="0">
              <a:buNone/>
            </a:pPr>
            <a:r>
              <a:rPr lang="en-US" sz="1400" dirty="0">
                <a:solidFill>
                  <a:srgbClr val="FAF6EF"/>
                </a:solidFill>
                <a:latin typeface="Calibri" pitchFamily="34" charset="0"/>
                <a:ea typeface="Calibri" pitchFamily="34" charset="-122"/>
                <a:cs typeface="Calibri" pitchFamily="34" charset="-120"/>
              </a:rPr>
              <a:t>Show it to Ben and Lizzie; fold in today's benchmark feedback; NDA and demo account for Steve to review the full syllabus.</a:t>
            </a:r>
            <a:endParaRPr lang="en-US" sz="1400" dirty="0"/>
          </a:p>
        </p:txBody>
      </p:sp>
      <p:sp>
        <p:nvSpPr>
          <p:cNvPr id="12" name="Shape 9"/>
          <p:cNvSpPr/>
          <p:nvPr/>
        </p:nvSpPr>
        <p:spPr>
          <a:xfrm>
            <a:off x="548640" y="3657600"/>
            <a:ext cx="2377440" cy="777240"/>
          </a:xfrm>
          <a:prstGeom prst="roundRect">
            <a:avLst>
              <a:gd name="adj" fmla="val 9412"/>
            </a:avLst>
          </a:prstGeom>
          <a:solidFill>
            <a:srgbClr val="2A4530"/>
          </a:solidFill>
          <a:ln w="12700">
            <a:solidFill>
              <a:srgbClr val="333333"/>
            </a:solidFill>
            <a:prstDash val="solid"/>
          </a:ln>
        </p:spPr>
        <p:txBody>
          <a:bodyPr/>
          <a:lstStyle/>
          <a:p>
            <a:endParaRPr lang="en-GB"/>
          </a:p>
        </p:txBody>
      </p:sp>
      <p:sp>
        <p:nvSpPr>
          <p:cNvPr id="13" name="Text 10"/>
          <p:cNvSpPr/>
          <p:nvPr/>
        </p:nvSpPr>
        <p:spPr>
          <a:xfrm>
            <a:off x="685800" y="3657600"/>
            <a:ext cx="2148840" cy="7772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Step 3</a:t>
            </a:r>
            <a:endParaRPr lang="en-US" sz="1400" dirty="0"/>
          </a:p>
        </p:txBody>
      </p:sp>
      <p:sp>
        <p:nvSpPr>
          <p:cNvPr id="14" name="Text 11"/>
          <p:cNvSpPr/>
          <p:nvPr/>
        </p:nvSpPr>
        <p:spPr>
          <a:xfrm>
            <a:off x="3154680" y="3657600"/>
            <a:ext cx="8412480" cy="777240"/>
          </a:xfrm>
          <a:prstGeom prst="rect">
            <a:avLst/>
          </a:prstGeom>
          <a:noFill/>
          <a:ln/>
        </p:spPr>
        <p:txBody>
          <a:bodyPr wrap="square" lIns="0" tIns="0" rIns="0" bIns="0" rtlCol="0" anchor="ctr"/>
          <a:lstStyle/>
          <a:p>
            <a:pPr marL="0" indent="0">
              <a:buNone/>
            </a:pPr>
            <a:r>
              <a:rPr lang="en-US" sz="1400" dirty="0">
                <a:solidFill>
                  <a:srgbClr val="FAF6EF"/>
                </a:solidFill>
                <a:latin typeface="Calibri" pitchFamily="34" charset="0"/>
                <a:ea typeface="Calibri" pitchFamily="34" charset="-122"/>
                <a:cs typeface="Calibri" pitchFamily="34" charset="-120"/>
              </a:rPr>
              <a:t>Soft launch with friends, then the waitlist. Feedback from real use before anything is promoted.</a:t>
            </a:r>
            <a:endParaRPr lang="en-US" sz="1400" dirty="0"/>
          </a:p>
        </p:txBody>
      </p:sp>
      <p:sp>
        <p:nvSpPr>
          <p:cNvPr id="15" name="Shape 12"/>
          <p:cNvSpPr/>
          <p:nvPr/>
        </p:nvSpPr>
        <p:spPr>
          <a:xfrm>
            <a:off x="548640" y="4617720"/>
            <a:ext cx="2377440" cy="777240"/>
          </a:xfrm>
          <a:prstGeom prst="roundRect">
            <a:avLst>
              <a:gd name="adj" fmla="val 9412"/>
            </a:avLst>
          </a:prstGeom>
          <a:solidFill>
            <a:srgbClr val="3A5C58"/>
          </a:solidFill>
          <a:ln w="12700">
            <a:solidFill>
              <a:srgbClr val="333333"/>
            </a:solidFill>
            <a:prstDash val="solid"/>
          </a:ln>
        </p:spPr>
        <p:txBody>
          <a:bodyPr/>
          <a:lstStyle/>
          <a:p>
            <a:endParaRPr lang="en-GB"/>
          </a:p>
        </p:txBody>
      </p:sp>
      <p:sp>
        <p:nvSpPr>
          <p:cNvPr id="16" name="Text 13"/>
          <p:cNvSpPr/>
          <p:nvPr/>
        </p:nvSpPr>
        <p:spPr>
          <a:xfrm>
            <a:off x="685800" y="4617720"/>
            <a:ext cx="2148840" cy="7772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Late Oct / early Nov</a:t>
            </a:r>
            <a:endParaRPr lang="en-US" sz="1400" dirty="0"/>
          </a:p>
        </p:txBody>
      </p:sp>
      <p:sp>
        <p:nvSpPr>
          <p:cNvPr id="17" name="Text 14"/>
          <p:cNvSpPr/>
          <p:nvPr/>
        </p:nvSpPr>
        <p:spPr>
          <a:xfrm>
            <a:off x="3154680" y="4617720"/>
            <a:ext cx="8412480" cy="777240"/>
          </a:xfrm>
          <a:prstGeom prst="rect">
            <a:avLst/>
          </a:prstGeom>
          <a:noFill/>
          <a:ln/>
        </p:spPr>
        <p:txBody>
          <a:bodyPr wrap="square" lIns="0" tIns="0" rIns="0" bIns="0" rtlCol="0" anchor="ctr"/>
          <a:lstStyle/>
          <a:p>
            <a:pPr marL="0" indent="0">
              <a:buNone/>
            </a:pPr>
            <a:r>
              <a:rPr lang="en-US" sz="1400" dirty="0">
                <a:solidFill>
                  <a:srgbClr val="FAF6EF"/>
                </a:solidFill>
                <a:latin typeface="Calibri" pitchFamily="34" charset="0"/>
                <a:ea typeface="Calibri" pitchFamily="34" charset="-122"/>
                <a:cs typeface="Calibri" pitchFamily="34" charset="-120"/>
              </a:rPr>
              <a:t>Reconvene with Steve once the new CEO has set direction; the baseline gap is in his October plan.</a:t>
            </a:r>
            <a:endParaRPr lang="en-US" sz="1400" dirty="0"/>
          </a:p>
        </p:txBody>
      </p:sp>
      <p:sp>
        <p:nvSpPr>
          <p:cNvPr id="18" name="Text 15"/>
          <p:cNvSpPr/>
          <p:nvPr/>
        </p:nvSpPr>
        <p:spPr>
          <a:xfrm>
            <a:off x="548640" y="5669280"/>
            <a:ext cx="7315200" cy="365760"/>
          </a:xfrm>
          <a:prstGeom prst="rect">
            <a:avLst/>
          </a:prstGeom>
          <a:noFill/>
          <a:ln/>
        </p:spPr>
        <p:txBody>
          <a:bodyPr wrap="square" lIns="0" tIns="0" rIns="0" bIns="0" rtlCol="0" anchor="ctr"/>
          <a:lstStyle/>
          <a:p>
            <a:pPr marL="0" indent="0">
              <a:buNone/>
            </a:pPr>
            <a:r>
              <a:rPr lang="en-US" sz="1300" dirty="0">
                <a:solidFill>
                  <a:srgbClr val="C08A36"/>
                </a:solidFill>
                <a:latin typeface="Calibri" pitchFamily="34" charset="0"/>
                <a:ea typeface="Calibri" pitchFamily="34" charset="-122"/>
                <a:cs typeface="Calibri" pitchFamily="34" charset="-120"/>
              </a:rPr>
              <a:t>gwth.ai   |   david@agilecommercegroup.com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2695</Words>
  <Application>Microsoft Office PowerPoint</Application>
  <PresentationFormat>Widescreen</PresentationFormat>
  <Paragraphs>200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GWTH x CIPD</dc:title>
  <dc:subject>PptxGenJS Presentation</dc:subject>
  <dc:creator>David Uccelli</dc:creator>
  <cp:lastModifiedBy>David Uccelli</cp:lastModifiedBy>
  <cp:revision>2</cp:revision>
  <dcterms:created xsi:type="dcterms:W3CDTF">2026-08-19T11:42:22Z</dcterms:created>
  <dcterms:modified xsi:type="dcterms:W3CDTF">2026-08-19T13:47:30Z</dcterms:modified>
</cp:coreProperties>
</file>